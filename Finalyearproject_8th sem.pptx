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23"/>
  </p:notesMasterIdLst>
  <p:sldIdLst>
    <p:sldId id="256" r:id="rId2"/>
    <p:sldId id="257" r:id="rId3"/>
    <p:sldId id="258" r:id="rId4"/>
    <p:sldId id="259" r:id="rId5"/>
    <p:sldId id="260" r:id="rId6"/>
    <p:sldId id="261" r:id="rId7"/>
    <p:sldId id="262" r:id="rId8"/>
    <p:sldId id="263" r:id="rId9"/>
    <p:sldId id="285" r:id="rId10"/>
    <p:sldId id="286" r:id="rId11"/>
    <p:sldId id="267" r:id="rId12"/>
    <p:sldId id="268" r:id="rId13"/>
    <p:sldId id="269" r:id="rId14"/>
    <p:sldId id="270" r:id="rId15"/>
    <p:sldId id="287" r:id="rId16"/>
    <p:sldId id="282" r:id="rId17"/>
    <p:sldId id="288" r:id="rId18"/>
    <p:sldId id="289" r:id="rId19"/>
    <p:sldId id="284" r:id="rId20"/>
    <p:sldId id="276" r:id="rId21"/>
    <p:sldId id="277" r:id="rId22"/>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908E489-954A-4B23-8175-D0DA4ACF93C2}">
  <a:tblStyle styleId="{1908E489-954A-4B23-8175-D0DA4ACF93C2}"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99" autoAdjust="0"/>
    <p:restoredTop sz="95033" autoAdjust="0"/>
  </p:normalViewPr>
  <p:slideViewPr>
    <p:cSldViewPr snapToGrid="0">
      <p:cViewPr varScale="1">
        <p:scale>
          <a:sx n="111" d="100"/>
          <a:sy n="111" d="100"/>
        </p:scale>
        <p:origin x="1644" y="9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 name="Google Shape;44;p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 name="Google Shape;60;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 name="Google Shape;66;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5: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 name="Google Shape;72;p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6: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 name="Google Shape;78;p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8: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 name="Google Shape;84;p8: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9: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9: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1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5: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1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6: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1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1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1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3690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1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04140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17: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2956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2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2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2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24:notes"/>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
          <p:cNvSpPr txBox="1">
            <a:spLocks noGrp="1"/>
          </p:cNvSpPr>
          <p:nvPr>
            <p:ph type="title"/>
          </p:nvPr>
        </p:nvSpPr>
        <p:spPr>
          <a:xfrm>
            <a:off x="2031365" y="439420"/>
            <a:ext cx="5081269" cy="5588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500" b="1" i="0" u="sng">
                <a:solidFill>
                  <a:srgbClr val="727BA3"/>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body" idx="1"/>
          </p:nvPr>
        </p:nvSpPr>
        <p:spPr>
          <a:xfrm>
            <a:off x="649287" y="1453299"/>
            <a:ext cx="8016875" cy="426085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2031365" y="439420"/>
            <a:ext cx="5081269" cy="5588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500" b="1" i="0" u="sng">
                <a:solidFill>
                  <a:srgbClr val="727BA3"/>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45720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 name="Google Shape;23;p3"/>
          <p:cNvSpPr txBox="1">
            <a:spLocks noGrp="1"/>
          </p:cNvSpPr>
          <p:nvPr>
            <p:ph type="body" idx="2"/>
          </p:nvPr>
        </p:nvSpPr>
        <p:spPr>
          <a:xfrm>
            <a:off x="470916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2031365" y="439420"/>
            <a:ext cx="5081269" cy="5588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500" b="1" i="0" u="sng">
                <a:solidFill>
                  <a:srgbClr val="727BA3"/>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2"/>
        <p:cNvGrpSpPr/>
        <p:nvPr/>
      </p:nvGrpSpPr>
      <p:grpSpPr>
        <a:xfrm>
          <a:off x="0" y="0"/>
          <a:ext cx="0" cy="0"/>
          <a:chOff x="0" y="0"/>
          <a:chExt cx="0" cy="0"/>
        </a:xfrm>
      </p:grpSpPr>
      <p:sp>
        <p:nvSpPr>
          <p:cNvPr id="33" name="Google Shape;33;p5"/>
          <p:cNvSpPr txBox="1">
            <a:spLocks noGrp="1"/>
          </p:cNvSpPr>
          <p:nvPr>
            <p:ph type="ctrTitle"/>
          </p:nvPr>
        </p:nvSpPr>
        <p:spPr>
          <a:xfrm>
            <a:off x="685800" y="2125980"/>
            <a:ext cx="77724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8"/>
        <p:cNvGrpSpPr/>
        <p:nvPr/>
      </p:nvGrpSpPr>
      <p:grpSpPr>
        <a:xfrm>
          <a:off x="0" y="0"/>
          <a:ext cx="0" cy="0"/>
          <a:chOff x="0" y="0"/>
          <a:chExt cx="0" cy="0"/>
        </a:xfrm>
      </p:grpSpPr>
      <p:sp>
        <p:nvSpPr>
          <p:cNvPr id="39" name="Google Shape;39;p6"/>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457200" y="6353175"/>
            <a:ext cx="8229600" cy="0"/>
          </a:xfrm>
          <a:custGeom>
            <a:avLst/>
            <a:gdLst/>
            <a:ahLst/>
            <a:cxnLst/>
            <a:rect l="l" t="t" r="r" b="b"/>
            <a:pathLst>
              <a:path w="8229600" h="120000" extrusionOk="0">
                <a:moveTo>
                  <a:pt x="0" y="0"/>
                </a:moveTo>
                <a:lnTo>
                  <a:pt x="8229599" y="0"/>
                </a:lnTo>
              </a:path>
            </a:pathLst>
          </a:custGeom>
          <a:noFill/>
          <a:ln w="9525" cap="flat" cmpd="sng">
            <a:solidFill>
              <a:srgbClr val="9FB8C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 name="Google Shape;7;p1"/>
          <p:cNvSpPr/>
          <p:nvPr/>
        </p:nvSpPr>
        <p:spPr>
          <a:xfrm>
            <a:off x="457200" y="1143000"/>
            <a:ext cx="8229600" cy="0"/>
          </a:xfrm>
          <a:custGeom>
            <a:avLst/>
            <a:gdLst/>
            <a:ahLst/>
            <a:cxnLst/>
            <a:rect l="l" t="t" r="r" b="b"/>
            <a:pathLst>
              <a:path w="8229600" h="120000" extrusionOk="0">
                <a:moveTo>
                  <a:pt x="0" y="0"/>
                </a:moveTo>
                <a:lnTo>
                  <a:pt x="8229599" y="0"/>
                </a:lnTo>
              </a:path>
            </a:pathLst>
          </a:custGeom>
          <a:noFill/>
          <a:ln w="9525" cap="flat" cmpd="sng">
            <a:solidFill>
              <a:srgbClr val="9FB8C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 name="Google Shape;8;p1"/>
          <p:cNvSpPr/>
          <p:nvPr/>
        </p:nvSpPr>
        <p:spPr>
          <a:xfrm>
            <a:off x="454025" y="6432550"/>
            <a:ext cx="120650" cy="190500"/>
          </a:xfrm>
          <a:custGeom>
            <a:avLst/>
            <a:gdLst/>
            <a:ahLst/>
            <a:cxnLst/>
            <a:rect l="l" t="t" r="r" b="b"/>
            <a:pathLst>
              <a:path w="120650" h="190500" extrusionOk="0">
                <a:moveTo>
                  <a:pt x="0" y="190499"/>
                </a:moveTo>
                <a:lnTo>
                  <a:pt x="0" y="0"/>
                </a:lnTo>
                <a:lnTo>
                  <a:pt x="120649" y="95249"/>
                </a:lnTo>
                <a:lnTo>
                  <a:pt x="0" y="190499"/>
                </a:lnTo>
                <a:close/>
              </a:path>
            </a:pathLst>
          </a:custGeom>
          <a:solidFill>
            <a:srgbClr val="9FB8C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 name="Google Shape;9;p1"/>
          <p:cNvSpPr txBox="1">
            <a:spLocks noGrp="1"/>
          </p:cNvSpPr>
          <p:nvPr>
            <p:ph type="title"/>
          </p:nvPr>
        </p:nvSpPr>
        <p:spPr>
          <a:xfrm>
            <a:off x="2031365" y="439420"/>
            <a:ext cx="5081269" cy="5588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500" b="1" i="0" u="sng" strike="noStrike" cap="none">
                <a:solidFill>
                  <a:srgbClr val="727BA3"/>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
          <p:cNvSpPr txBox="1">
            <a:spLocks noGrp="1"/>
          </p:cNvSpPr>
          <p:nvPr>
            <p:ph type="body" idx="1"/>
          </p:nvPr>
        </p:nvSpPr>
        <p:spPr>
          <a:xfrm>
            <a:off x="649287" y="1453299"/>
            <a:ext cx="8016875" cy="426085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1" name="Google Shape;11;p1"/>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a:solidFill>
                  <a:srgbClr val="888888"/>
                </a:solidFill>
                <a:latin typeface="Calibri"/>
                <a:ea typeface="Calibri"/>
                <a:cs typeface="Calibri"/>
                <a:sym typeface="Calibri"/>
              </a:defRPr>
            </a:lvl1pPr>
            <a:lvl2pPr marL="0" marR="0" lvl="1" indent="0" algn="r" rtl="0">
              <a:spcBef>
                <a:spcPts val="0"/>
              </a:spcBef>
              <a:buNone/>
              <a:defRPr sz="1800">
                <a:solidFill>
                  <a:srgbClr val="888888"/>
                </a:solidFill>
                <a:latin typeface="Calibri"/>
                <a:ea typeface="Calibri"/>
                <a:cs typeface="Calibri"/>
                <a:sym typeface="Calibri"/>
              </a:defRPr>
            </a:lvl2pPr>
            <a:lvl3pPr marL="0" marR="0" lvl="2" indent="0" algn="r" rtl="0">
              <a:spcBef>
                <a:spcPts val="0"/>
              </a:spcBef>
              <a:buNone/>
              <a:defRPr sz="1800">
                <a:solidFill>
                  <a:srgbClr val="888888"/>
                </a:solidFill>
                <a:latin typeface="Calibri"/>
                <a:ea typeface="Calibri"/>
                <a:cs typeface="Calibri"/>
                <a:sym typeface="Calibri"/>
              </a:defRPr>
            </a:lvl3pPr>
            <a:lvl4pPr marL="0" marR="0" lvl="3" indent="0" algn="r" rtl="0">
              <a:spcBef>
                <a:spcPts val="0"/>
              </a:spcBef>
              <a:buNone/>
              <a:defRPr sz="1800">
                <a:solidFill>
                  <a:srgbClr val="888888"/>
                </a:solidFill>
                <a:latin typeface="Calibri"/>
                <a:ea typeface="Calibri"/>
                <a:cs typeface="Calibri"/>
                <a:sym typeface="Calibri"/>
              </a:defRPr>
            </a:lvl4pPr>
            <a:lvl5pPr marL="0" marR="0" lvl="4" indent="0" algn="r" rtl="0">
              <a:spcBef>
                <a:spcPts val="0"/>
              </a:spcBef>
              <a:buNone/>
              <a:defRPr sz="1800">
                <a:solidFill>
                  <a:srgbClr val="888888"/>
                </a:solidFill>
                <a:latin typeface="Calibri"/>
                <a:ea typeface="Calibri"/>
                <a:cs typeface="Calibri"/>
                <a:sym typeface="Calibri"/>
              </a:defRPr>
            </a:lvl5pPr>
            <a:lvl6pPr marL="0" marR="0" lvl="5" indent="0" algn="r" rtl="0">
              <a:spcBef>
                <a:spcPts val="0"/>
              </a:spcBef>
              <a:buNone/>
              <a:defRPr sz="1800">
                <a:solidFill>
                  <a:srgbClr val="888888"/>
                </a:solidFill>
                <a:latin typeface="Calibri"/>
                <a:ea typeface="Calibri"/>
                <a:cs typeface="Calibri"/>
                <a:sym typeface="Calibri"/>
              </a:defRPr>
            </a:lvl6pPr>
            <a:lvl7pPr marL="0" marR="0" lvl="6" indent="0" algn="r" rtl="0">
              <a:spcBef>
                <a:spcPts val="0"/>
              </a:spcBef>
              <a:buNone/>
              <a:defRPr sz="1800">
                <a:solidFill>
                  <a:srgbClr val="888888"/>
                </a:solidFill>
                <a:latin typeface="Calibri"/>
                <a:ea typeface="Calibri"/>
                <a:cs typeface="Calibri"/>
                <a:sym typeface="Calibri"/>
              </a:defRPr>
            </a:lvl7pPr>
            <a:lvl8pPr marL="0" marR="0" lvl="7" indent="0" algn="r" rtl="0">
              <a:spcBef>
                <a:spcPts val="0"/>
              </a:spcBef>
              <a:buNone/>
              <a:defRPr sz="1800">
                <a:solidFill>
                  <a:srgbClr val="888888"/>
                </a:solidFill>
                <a:latin typeface="Calibri"/>
                <a:ea typeface="Calibri"/>
                <a:cs typeface="Calibri"/>
                <a:sym typeface="Calibri"/>
              </a:defRPr>
            </a:lvl8pPr>
            <a:lvl9pPr marL="0" marR="0" lvl="8" indent="0" algn="r" rtl="0">
              <a:spcBef>
                <a:spcPts val="0"/>
              </a:spcBef>
              <a:buNone/>
              <a:defRPr sz="18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b="0" u="none"/>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190500" y="1297444"/>
            <a:ext cx="8691825" cy="936154"/>
          </a:xfrm>
          <a:prstGeom prst="rect">
            <a:avLst/>
          </a:prstGeom>
          <a:noFill/>
          <a:ln>
            <a:noFill/>
          </a:ln>
        </p:spPr>
        <p:txBody>
          <a:bodyPr spcFirstLastPara="1" wrap="square" lIns="0" tIns="12700" rIns="0" bIns="0" anchor="t" anchorCtr="0">
            <a:spAutoFit/>
          </a:bodyPr>
          <a:lstStyle/>
          <a:p>
            <a:pPr marL="12700" marR="5080" lvl="0" indent="1274445" algn="l" rtl="0">
              <a:lnSpc>
                <a:spcPct val="150000"/>
              </a:lnSpc>
              <a:spcBef>
                <a:spcPts val="0"/>
              </a:spcBef>
              <a:spcAft>
                <a:spcPts val="0"/>
              </a:spcAft>
              <a:buNone/>
            </a:pPr>
            <a:r>
              <a:rPr lang="en-US" sz="2000" u="none" dirty="0"/>
              <a:t>RAJALAKSHMI INSTITUTE OF TECHNOLOGY  DEPARTMENT OF ARTIFICIAL INTELLIGENCE AND DATA SCIENCE</a:t>
            </a:r>
            <a:endParaRPr sz="2000" dirty="0"/>
          </a:p>
        </p:txBody>
      </p:sp>
      <p:sp>
        <p:nvSpPr>
          <p:cNvPr id="47" name="Google Shape;47;p7"/>
          <p:cNvSpPr txBox="1"/>
          <p:nvPr/>
        </p:nvSpPr>
        <p:spPr>
          <a:xfrm>
            <a:off x="190500" y="2298478"/>
            <a:ext cx="8763000" cy="2123658"/>
          </a:xfrm>
          <a:prstGeom prst="rect">
            <a:avLst/>
          </a:prstGeom>
          <a:noFill/>
          <a:ln>
            <a:noFill/>
          </a:ln>
        </p:spPr>
        <p:txBody>
          <a:bodyPr spcFirstLastPara="1" wrap="square" lIns="0" tIns="12700" rIns="0" bIns="0" anchor="t" anchorCtr="0">
            <a:spAutoFit/>
          </a:bodyPr>
          <a:lstStyle/>
          <a:p>
            <a:pPr marL="12700" marR="0" lvl="0" indent="0" algn="ctr" rtl="0">
              <a:lnSpc>
                <a:spcPct val="150000"/>
              </a:lnSpc>
              <a:spcBef>
                <a:spcPts val="0"/>
              </a:spcBef>
              <a:spcAft>
                <a:spcPts val="0"/>
              </a:spcAft>
              <a:buNone/>
            </a:pPr>
            <a:r>
              <a:rPr lang="en-US" sz="2000" b="1" dirty="0">
                <a:solidFill>
                  <a:srgbClr val="727BA3"/>
                </a:solidFill>
                <a:latin typeface="Times New Roman"/>
                <a:ea typeface="Times New Roman"/>
                <a:cs typeface="Times New Roman"/>
                <a:sym typeface="Times New Roman"/>
              </a:rPr>
              <a:t>AD8811 - PROJECT WORK - VIII Semester</a:t>
            </a:r>
            <a:endParaRPr sz="2000" dirty="0">
              <a:solidFill>
                <a:schemeClr val="dk1"/>
              </a:solidFill>
              <a:latin typeface="Times New Roman"/>
              <a:ea typeface="Times New Roman"/>
              <a:cs typeface="Times New Roman"/>
              <a:sym typeface="Times New Roman"/>
            </a:endParaRPr>
          </a:p>
          <a:p>
            <a:pPr marL="0" marR="109854" lvl="0" indent="0" algn="ctr" rtl="0">
              <a:lnSpc>
                <a:spcPct val="150000"/>
              </a:lnSpc>
              <a:spcBef>
                <a:spcPts val="1739"/>
              </a:spcBef>
              <a:spcAft>
                <a:spcPts val="0"/>
              </a:spcAft>
              <a:buNone/>
            </a:pPr>
            <a:r>
              <a:rPr lang="en-US" sz="2400" b="1" u="sng" dirty="0">
                <a:solidFill>
                  <a:srgbClr val="7D8524"/>
                </a:solidFill>
                <a:latin typeface="Times New Roman"/>
                <a:ea typeface="Times New Roman"/>
                <a:cs typeface="Times New Roman"/>
                <a:sym typeface="Times New Roman"/>
              </a:rPr>
              <a:t>Project Title </a:t>
            </a:r>
            <a:r>
              <a:rPr lang="en-US" sz="2400" b="1" dirty="0">
                <a:solidFill>
                  <a:srgbClr val="7D8524"/>
                </a:solidFill>
                <a:latin typeface="Times New Roman"/>
                <a:ea typeface="Times New Roman"/>
                <a:cs typeface="Times New Roman"/>
                <a:sym typeface="Times New Roman"/>
              </a:rPr>
              <a:t>- Eye-Guided Virtual Mouse Navigation System Using Computer Vision</a:t>
            </a:r>
            <a:endParaRPr sz="2400" b="1" dirty="0">
              <a:solidFill>
                <a:srgbClr val="76923C"/>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100" dirty="0">
              <a:solidFill>
                <a:schemeClr val="dk1"/>
              </a:solidFill>
              <a:latin typeface="Times New Roman"/>
              <a:ea typeface="Times New Roman"/>
              <a:cs typeface="Times New Roman"/>
              <a:sym typeface="Times New Roman"/>
            </a:endParaRPr>
          </a:p>
        </p:txBody>
      </p:sp>
      <p:sp>
        <p:nvSpPr>
          <p:cNvPr id="48" name="Google Shape;48;p7"/>
          <p:cNvSpPr txBox="1"/>
          <p:nvPr/>
        </p:nvSpPr>
        <p:spPr>
          <a:xfrm>
            <a:off x="452184" y="4039191"/>
            <a:ext cx="4376700" cy="2952090"/>
          </a:xfrm>
          <a:prstGeom prst="rect">
            <a:avLst/>
          </a:prstGeom>
          <a:noFill/>
          <a:ln>
            <a:noFill/>
          </a:ln>
        </p:spPr>
        <p:txBody>
          <a:bodyPr spcFirstLastPara="1" wrap="square" lIns="0" tIns="12700" rIns="0" bIns="0" anchor="t" anchorCtr="0">
            <a:spAutoFit/>
          </a:bodyPr>
          <a:lstStyle/>
          <a:p>
            <a:pPr marL="90805" marR="0" lvl="0" indent="0" algn="l" rtl="0">
              <a:lnSpc>
                <a:spcPct val="150000"/>
              </a:lnSpc>
              <a:spcBef>
                <a:spcPts val="0"/>
              </a:spcBef>
              <a:spcAft>
                <a:spcPts val="0"/>
              </a:spcAft>
              <a:buNone/>
            </a:pPr>
            <a:r>
              <a:rPr lang="en-US" sz="2000" b="1" u="sng" dirty="0">
                <a:solidFill>
                  <a:schemeClr val="dk1"/>
                </a:solidFill>
                <a:latin typeface="Times New Roman"/>
                <a:ea typeface="Times New Roman"/>
                <a:cs typeface="Times New Roman"/>
                <a:sym typeface="Times New Roman"/>
              </a:rPr>
              <a:t>TEAM MEMBERS</a:t>
            </a:r>
            <a:r>
              <a:rPr lang="en-US" sz="2000" b="1" dirty="0">
                <a:solidFill>
                  <a:schemeClr val="dk1"/>
                </a:solidFill>
                <a:latin typeface="Times New Roman"/>
                <a:ea typeface="Times New Roman"/>
                <a:cs typeface="Times New Roman"/>
                <a:sym typeface="Times New Roman"/>
              </a:rPr>
              <a:t>:</a:t>
            </a:r>
            <a:endParaRPr sz="20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0"/>
              </a:spcBef>
              <a:spcAft>
                <a:spcPts val="0"/>
              </a:spcAft>
              <a:buNone/>
            </a:pPr>
            <a:r>
              <a:rPr lang="en-US" sz="2000" dirty="0">
                <a:solidFill>
                  <a:schemeClr val="dk1"/>
                </a:solidFill>
                <a:latin typeface="Times New Roman"/>
                <a:ea typeface="Times New Roman"/>
                <a:cs typeface="Times New Roman"/>
                <a:sym typeface="Times New Roman"/>
              </a:rPr>
              <a:t>T. Frederick Tharun – 211720243017</a:t>
            </a:r>
          </a:p>
          <a:p>
            <a:pPr marL="12700">
              <a:lnSpc>
                <a:spcPct val="150000"/>
              </a:lnSpc>
            </a:pPr>
            <a:r>
              <a:rPr lang="en-US" sz="2000" dirty="0">
                <a:solidFill>
                  <a:schemeClr val="dk1"/>
                </a:solidFill>
                <a:latin typeface="Times New Roman"/>
                <a:ea typeface="Times New Roman"/>
                <a:cs typeface="Times New Roman"/>
                <a:sym typeface="Times New Roman"/>
              </a:rPr>
              <a:t>A. Gemini - 211720243020</a:t>
            </a:r>
            <a:endParaRPr sz="20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0"/>
              </a:spcBef>
              <a:spcAft>
                <a:spcPts val="0"/>
              </a:spcAft>
              <a:buNone/>
            </a:pPr>
            <a:r>
              <a:rPr lang="en-US" sz="2000" dirty="0">
                <a:solidFill>
                  <a:schemeClr val="dk1"/>
                </a:solidFill>
                <a:latin typeface="Times New Roman"/>
                <a:ea typeface="Times New Roman"/>
                <a:cs typeface="Times New Roman"/>
                <a:sym typeface="Times New Roman"/>
              </a:rPr>
              <a:t>B. Vishal - 211720243051</a:t>
            </a:r>
            <a:endParaRPr sz="2000" dirty="0">
              <a:solidFill>
                <a:schemeClr val="dk1"/>
              </a:solidFill>
              <a:latin typeface="Times New Roman"/>
              <a:ea typeface="Times New Roman"/>
              <a:cs typeface="Times New Roman"/>
              <a:sym typeface="Times New Roman"/>
            </a:endParaRPr>
          </a:p>
          <a:p>
            <a:pPr marL="12700" marR="0" lvl="0" indent="0" algn="l" rtl="0">
              <a:lnSpc>
                <a:spcPct val="150000"/>
              </a:lnSpc>
              <a:spcBef>
                <a:spcPts val="0"/>
              </a:spcBef>
              <a:spcAft>
                <a:spcPts val="0"/>
              </a:spcAft>
              <a:buNone/>
            </a:pPr>
            <a:endParaRPr dirty="0"/>
          </a:p>
          <a:p>
            <a:pPr marL="12700" marR="0" lvl="0" indent="0" algn="l" rtl="0">
              <a:lnSpc>
                <a:spcPct val="150000"/>
              </a:lnSpc>
              <a:spcBef>
                <a:spcPts val="0"/>
              </a:spcBef>
              <a:spcAft>
                <a:spcPts val="0"/>
              </a:spcAft>
              <a:buNone/>
            </a:pPr>
            <a:endParaRPr sz="2000" dirty="0">
              <a:solidFill>
                <a:schemeClr val="dk1"/>
              </a:solidFill>
              <a:latin typeface="Times New Roman"/>
              <a:ea typeface="Times New Roman"/>
              <a:cs typeface="Times New Roman"/>
              <a:sym typeface="Times New Roman"/>
            </a:endParaRPr>
          </a:p>
          <a:p>
            <a:pPr marL="112395" marR="0" lvl="0" indent="0" algn="l" rtl="0">
              <a:lnSpc>
                <a:spcPct val="100000"/>
              </a:lnSpc>
              <a:spcBef>
                <a:spcPts val="0"/>
              </a:spcBef>
              <a:spcAft>
                <a:spcPts val="0"/>
              </a:spcAft>
              <a:buNone/>
            </a:pPr>
            <a:endParaRPr sz="2000" dirty="0">
              <a:solidFill>
                <a:schemeClr val="dk1"/>
              </a:solidFill>
              <a:latin typeface="Times New Roman"/>
              <a:ea typeface="Times New Roman"/>
              <a:cs typeface="Times New Roman"/>
              <a:sym typeface="Times New Roman"/>
            </a:endParaRPr>
          </a:p>
        </p:txBody>
      </p:sp>
      <p:pic>
        <p:nvPicPr>
          <p:cNvPr id="49" name="Google Shape;49;p7"/>
          <p:cNvPicPr preferRelativeResize="0"/>
          <p:nvPr/>
        </p:nvPicPr>
        <p:blipFill rotWithShape="1">
          <a:blip r:embed="rId3">
            <a:alphaModFix/>
          </a:blip>
          <a:srcRect/>
          <a:stretch/>
        </p:blipFill>
        <p:spPr>
          <a:xfrm>
            <a:off x="0" y="0"/>
            <a:ext cx="3067049" cy="1231899"/>
          </a:xfrm>
          <a:prstGeom prst="rect">
            <a:avLst/>
          </a:prstGeom>
          <a:noFill/>
          <a:ln>
            <a:noFill/>
          </a:ln>
        </p:spPr>
      </p:pic>
      <p:sp>
        <p:nvSpPr>
          <p:cNvPr id="50" name="Google Shape;50;p7"/>
          <p:cNvSpPr txBox="1"/>
          <p:nvPr/>
        </p:nvSpPr>
        <p:spPr>
          <a:xfrm>
            <a:off x="5508221" y="4039191"/>
            <a:ext cx="3374104" cy="948978"/>
          </a:xfrm>
          <a:prstGeom prst="rect">
            <a:avLst/>
          </a:prstGeom>
          <a:noFill/>
          <a:ln>
            <a:noFill/>
          </a:ln>
        </p:spPr>
        <p:txBody>
          <a:bodyPr spcFirstLastPara="1" wrap="square" lIns="0" tIns="12700" rIns="0" bIns="0" anchor="t" anchorCtr="0">
            <a:spAutoFit/>
          </a:bodyPr>
          <a:lstStyle/>
          <a:p>
            <a:pPr marL="12700" marR="0" lvl="0" indent="0" algn="l" rtl="0">
              <a:lnSpc>
                <a:spcPct val="150000"/>
              </a:lnSpc>
              <a:spcBef>
                <a:spcPts val="0"/>
              </a:spcBef>
              <a:spcAft>
                <a:spcPts val="0"/>
              </a:spcAft>
              <a:buNone/>
            </a:pPr>
            <a:r>
              <a:rPr lang="en-US" sz="2000" b="1" u="sng" dirty="0">
                <a:solidFill>
                  <a:schemeClr val="dk1"/>
                </a:solidFill>
                <a:latin typeface="Times New Roman"/>
                <a:ea typeface="Times New Roman"/>
                <a:cs typeface="Times New Roman"/>
                <a:sym typeface="Times New Roman"/>
              </a:rPr>
              <a:t>GUIDED BY</a:t>
            </a:r>
            <a:r>
              <a:rPr lang="en-US" sz="2000" b="1" dirty="0">
                <a:solidFill>
                  <a:schemeClr val="dk1"/>
                </a:solidFill>
                <a:latin typeface="Times New Roman"/>
                <a:ea typeface="Times New Roman"/>
                <a:cs typeface="Times New Roman"/>
                <a:sym typeface="Times New Roman"/>
              </a:rPr>
              <a:t>:</a:t>
            </a:r>
            <a:endParaRPr sz="2000" b="1" dirty="0">
              <a:solidFill>
                <a:schemeClr val="dk1"/>
              </a:solidFill>
              <a:latin typeface="Times New Roman"/>
              <a:ea typeface="Times New Roman"/>
              <a:cs typeface="Times New Roman"/>
              <a:sym typeface="Times New Roman"/>
            </a:endParaRPr>
          </a:p>
          <a:p>
            <a:pPr marL="12700" marR="0" lvl="0" indent="0" algn="l" rtl="0">
              <a:lnSpc>
                <a:spcPct val="150000"/>
              </a:lnSpc>
              <a:spcBef>
                <a:spcPts val="100"/>
              </a:spcBef>
              <a:spcAft>
                <a:spcPts val="0"/>
              </a:spcAft>
              <a:buNone/>
            </a:pPr>
            <a:r>
              <a:rPr lang="en-IN" sz="2000" dirty="0">
                <a:solidFill>
                  <a:schemeClr val="dk1"/>
                </a:solidFill>
                <a:latin typeface="Times New Roman"/>
                <a:ea typeface="Times New Roman"/>
                <a:cs typeface="Times New Roman"/>
                <a:sym typeface="Times New Roman"/>
              </a:rPr>
              <a:t>Mr. T N </a:t>
            </a:r>
            <a:r>
              <a:rPr lang="en-IN" sz="2000" dirty="0" err="1">
                <a:solidFill>
                  <a:schemeClr val="dk1"/>
                </a:solidFill>
                <a:latin typeface="Times New Roman"/>
                <a:ea typeface="Times New Roman"/>
                <a:cs typeface="Times New Roman"/>
                <a:sym typeface="Times New Roman"/>
              </a:rPr>
              <a:t>Sudhahar</a:t>
            </a:r>
            <a:r>
              <a:rPr lang="en-IN" sz="2000" dirty="0">
                <a:solidFill>
                  <a:schemeClr val="dk1"/>
                </a:solidFill>
                <a:latin typeface="Times New Roman"/>
                <a:ea typeface="Times New Roman"/>
                <a:cs typeface="Times New Roman"/>
                <a:sym typeface="Times New Roman"/>
              </a:rPr>
              <a:t> </a:t>
            </a:r>
            <a:r>
              <a:rPr lang="en-IN" sz="2000" dirty="0" err="1">
                <a:solidFill>
                  <a:schemeClr val="dk1"/>
                </a:solidFill>
                <a:latin typeface="Times New Roman"/>
                <a:ea typeface="Times New Roman"/>
                <a:cs typeface="Times New Roman"/>
                <a:sym typeface="Times New Roman"/>
              </a:rPr>
              <a:t>M.tech.,PhD</a:t>
            </a:r>
            <a:r>
              <a:rPr lang="en-IN" sz="2000" dirty="0">
                <a:solidFill>
                  <a:schemeClr val="dk1"/>
                </a:solidFill>
                <a:latin typeface="Times New Roman"/>
                <a:ea typeface="Times New Roman"/>
                <a:cs typeface="Times New Roman"/>
                <a:sym typeface="Times New Roman"/>
              </a:rPr>
              <a:t>.</a:t>
            </a:r>
            <a:endParaRPr sz="2000" dirty="0">
              <a:solidFill>
                <a:schemeClr val="dk1"/>
              </a:solidFill>
              <a:latin typeface="Times New Roman"/>
              <a:ea typeface="Times New Roman"/>
              <a:cs typeface="Times New Roman"/>
              <a:sym typeface="Times New Roman"/>
            </a:endParaRPr>
          </a:p>
        </p:txBody>
      </p:sp>
      <p:pic>
        <p:nvPicPr>
          <p:cNvPr id="51" name="Google Shape;51;p7"/>
          <p:cNvPicPr preferRelativeResize="0"/>
          <p:nvPr/>
        </p:nvPicPr>
        <p:blipFill rotWithShape="1">
          <a:blip r:embed="rId4">
            <a:alphaModFix/>
          </a:blip>
          <a:srcRect/>
          <a:stretch/>
        </p:blipFill>
        <p:spPr>
          <a:xfrm>
            <a:off x="7848600" y="-29321"/>
            <a:ext cx="1203960" cy="11963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3349240" y="480693"/>
            <a:ext cx="2446020" cy="558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ABSTRACT</a:t>
            </a:r>
            <a:endParaRPr dirty="0"/>
          </a:p>
        </p:txBody>
      </p:sp>
      <p:sp>
        <p:nvSpPr>
          <p:cNvPr id="57" name="Google Shape;57;p8"/>
          <p:cNvSpPr txBox="1"/>
          <p:nvPr/>
        </p:nvSpPr>
        <p:spPr>
          <a:xfrm>
            <a:off x="442450" y="1206596"/>
            <a:ext cx="8272342" cy="4998804"/>
          </a:xfrm>
          <a:prstGeom prst="rect">
            <a:avLst/>
          </a:prstGeom>
          <a:noFill/>
          <a:ln>
            <a:noFill/>
          </a:ln>
        </p:spPr>
        <p:txBody>
          <a:bodyPr spcFirstLastPara="1" wrap="square" lIns="0" tIns="12700" rIns="0" bIns="0" anchor="t" anchorCtr="0">
            <a:spAutoFit/>
          </a:bodyPr>
          <a:lstStyle/>
          <a:p>
            <a:pPr marL="457200" lvl="0" indent="-349250" algn="just" rtl="0">
              <a:spcBef>
                <a:spcPts val="0"/>
              </a:spcBef>
              <a:spcAft>
                <a:spcPts val="0"/>
              </a:spcAft>
              <a:buSzPts val="1900"/>
              <a:buFont typeface="Wingdings" panose="05000000000000000000" pitchFamily="2" charset="2"/>
              <a:buChar char="v"/>
            </a:pPr>
            <a:r>
              <a:rPr lang="en-US" sz="1800" dirty="0">
                <a:latin typeface="Times New Roman"/>
                <a:ea typeface="Times New Roman"/>
                <a:cs typeface="Times New Roman"/>
                <a:sym typeface="Times New Roman"/>
              </a:rPr>
              <a:t>Controlling the mouse by a physically challenged person is really a tough one. To find a solution for the people who cannot use the Mouse physically, we have proposed this mouse cursor control using Eye Movements. </a:t>
            </a:r>
          </a:p>
          <a:p>
            <a:pPr marL="457200" lvl="0" indent="-349250" algn="just" rtl="0">
              <a:spcBef>
                <a:spcPts val="0"/>
              </a:spcBef>
              <a:spcAft>
                <a:spcPts val="0"/>
              </a:spcAft>
              <a:buSzPts val="1900"/>
              <a:buFont typeface="Wingdings" panose="05000000000000000000" pitchFamily="2" charset="2"/>
              <a:buChar char="v"/>
            </a:pPr>
            <a:r>
              <a:rPr lang="en-US" sz="1800" dirty="0" err="1">
                <a:latin typeface="Times New Roman"/>
                <a:ea typeface="Times New Roman"/>
                <a:cs typeface="Times New Roman"/>
                <a:sym typeface="Times New Roman"/>
              </a:rPr>
              <a:t>Eyegaze</a:t>
            </a:r>
            <a:r>
              <a:rPr lang="en-US" sz="1800" dirty="0">
                <a:latin typeface="Times New Roman"/>
                <a:ea typeface="Times New Roman"/>
                <a:cs typeface="Times New Roman"/>
                <a:sym typeface="Times New Roman"/>
              </a:rPr>
              <a:t> Is an alternative way of accessing a computer using eye movements to control the mouse.</a:t>
            </a:r>
          </a:p>
          <a:p>
            <a:pPr marL="457200" lvl="0" indent="-349250" algn="just" rtl="0">
              <a:spcBef>
                <a:spcPts val="0"/>
              </a:spcBef>
              <a:spcAft>
                <a:spcPts val="0"/>
              </a:spcAft>
              <a:buSzPts val="1900"/>
              <a:buFont typeface="Wingdings" panose="05000000000000000000" pitchFamily="2" charset="2"/>
              <a:buChar char="v"/>
            </a:pPr>
            <a:r>
              <a:rPr lang="en-US" sz="1800" dirty="0">
                <a:latin typeface="Times New Roman"/>
                <a:ea typeface="Times New Roman"/>
                <a:cs typeface="Times New Roman"/>
                <a:sym typeface="Times New Roman"/>
              </a:rPr>
              <a:t>For someone who find touchscreens, mouse inaccessible, eye gaze is an alternative method to allow a user to operate their computer, using the movement of their eyes.</a:t>
            </a:r>
          </a:p>
          <a:p>
            <a:pPr marL="457200" lvl="0" indent="-349250" algn="just" rtl="0">
              <a:spcBef>
                <a:spcPts val="0"/>
              </a:spcBef>
              <a:spcAft>
                <a:spcPts val="0"/>
              </a:spcAft>
              <a:buSzPts val="1900"/>
              <a:buFont typeface="Wingdings" panose="05000000000000000000" pitchFamily="2" charset="2"/>
              <a:buChar char="v"/>
            </a:pPr>
            <a:r>
              <a:rPr lang="en-US" sz="1800" dirty="0">
                <a:latin typeface="Times New Roman"/>
                <a:ea typeface="Times New Roman"/>
                <a:cs typeface="Times New Roman"/>
                <a:sym typeface="Times New Roman"/>
              </a:rPr>
              <a:t>Eye movement can be regarded as a pivotal real-time input medium for human-computer communication, which is especially important for people with physical disability. In order to improve the reliability, mobility, and usability of eye tracking technique in user-computer dialogue, a novel eye control system is proposed In this system using webcam and Without using any </a:t>
            </a:r>
            <a:r>
              <a:rPr lang="en-US" sz="1800" dirty="0" err="1">
                <a:latin typeface="Times New Roman"/>
                <a:ea typeface="Times New Roman"/>
                <a:cs typeface="Times New Roman"/>
                <a:sym typeface="Times New Roman"/>
              </a:rPr>
              <a:t>externalware</a:t>
            </a:r>
            <a:r>
              <a:rPr lang="en-US" sz="1800" dirty="0">
                <a:latin typeface="Times New Roman"/>
                <a:ea typeface="Times New Roman"/>
                <a:cs typeface="Times New Roman"/>
                <a:sym typeface="Times New Roman"/>
              </a:rPr>
              <a:t>. </a:t>
            </a:r>
          </a:p>
          <a:p>
            <a:pPr marL="457200" lvl="0" indent="-349250" algn="just" rtl="0">
              <a:spcBef>
                <a:spcPts val="0"/>
              </a:spcBef>
              <a:spcAft>
                <a:spcPts val="0"/>
              </a:spcAft>
              <a:buSzPts val="1900"/>
              <a:buFont typeface="Wingdings" panose="05000000000000000000" pitchFamily="2" charset="2"/>
              <a:buChar char="v"/>
            </a:pPr>
            <a:r>
              <a:rPr lang="en-US" sz="1800" dirty="0">
                <a:latin typeface="Times New Roman"/>
                <a:ea typeface="Times New Roman"/>
                <a:cs typeface="Times New Roman"/>
                <a:sym typeface="Times New Roman"/>
              </a:rPr>
              <a:t>This proposed system focuses on providing a simple and convenient interactive mode by only using user's eye. The usage flow of the proposed system is designed to perfectly follow human natural habits. </a:t>
            </a:r>
          </a:p>
          <a:p>
            <a:pPr marL="457200" lvl="0" indent="-349250" algn="just" rtl="0">
              <a:spcBef>
                <a:spcPts val="0"/>
              </a:spcBef>
              <a:spcAft>
                <a:spcPts val="0"/>
              </a:spcAft>
              <a:buSzPts val="1900"/>
              <a:buFont typeface="Wingdings" panose="05000000000000000000" pitchFamily="2" charset="2"/>
              <a:buChar char="v"/>
            </a:pPr>
            <a:r>
              <a:rPr lang="en-US" sz="1800" dirty="0">
                <a:latin typeface="Times New Roman"/>
                <a:ea typeface="Times New Roman"/>
                <a:cs typeface="Times New Roman"/>
                <a:sym typeface="Times New Roman"/>
              </a:rPr>
              <a:t>The proposed system describes the implementation of both iris and movement of cursor according to iris position which can be used to control the cursor on the screen using webcam and implemented using Python.</a:t>
            </a:r>
            <a:endParaRPr sz="1800" dirty="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1941906" y="482281"/>
            <a:ext cx="6199203" cy="558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PROBLEM STATEMENT</a:t>
            </a:r>
            <a:endParaRPr dirty="0"/>
          </a:p>
        </p:txBody>
      </p:sp>
      <p:sp>
        <p:nvSpPr>
          <p:cNvPr id="63" name="Google Shape;63;p9"/>
          <p:cNvSpPr txBox="1"/>
          <p:nvPr/>
        </p:nvSpPr>
        <p:spPr>
          <a:xfrm>
            <a:off x="485655" y="1295400"/>
            <a:ext cx="8172600" cy="2450414"/>
          </a:xfrm>
          <a:prstGeom prst="rect">
            <a:avLst/>
          </a:prstGeom>
          <a:noFill/>
          <a:ln>
            <a:noFill/>
          </a:ln>
        </p:spPr>
        <p:txBody>
          <a:bodyPr spcFirstLastPara="1" wrap="square" lIns="0" tIns="12700" rIns="0" bIns="0" anchor="t" anchorCtr="0">
            <a:spAutoFit/>
          </a:bodyPr>
          <a:lstStyle/>
          <a:p>
            <a:pPr marL="457200" lvl="0" indent="-349250" algn="just" rtl="0">
              <a:lnSpc>
                <a:spcPct val="110000"/>
              </a:lnSpc>
              <a:spcBef>
                <a:spcPts val="0"/>
              </a:spcBef>
              <a:spcAft>
                <a:spcPts val="0"/>
              </a:spcAft>
              <a:buSzPts val="1900"/>
              <a:buFont typeface="Wingdings" panose="05000000000000000000" pitchFamily="2" charset="2"/>
              <a:buChar char="v"/>
            </a:pPr>
            <a:r>
              <a:rPr lang="en-US" sz="1800" dirty="0">
                <a:latin typeface="Times New Roman"/>
                <a:ea typeface="Times New Roman"/>
                <a:cs typeface="Times New Roman"/>
                <a:sym typeface="Times New Roman"/>
              </a:rPr>
              <a:t>Developing a virtual mouse control system using eye movements poses challenges in accuracy, real-time responsiveness, and user adaptability. The project aims to design and implement a robust virtual mouse interface that accurately tracks eye movements, translates them into mouse cursor movements, and provides intuitive control for users with varying degrees of motor impairment. The system must address issues such as calibration accuracy, user fatigue, and adaptability to different eye movement patterns, while ensuring seamless integration with existing operating systems and applications.</a:t>
            </a:r>
            <a:endParaRPr sz="1800"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2781479" y="456881"/>
            <a:ext cx="3581400" cy="558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INTRODUCTION</a:t>
            </a:r>
            <a:endParaRPr dirty="0"/>
          </a:p>
        </p:txBody>
      </p:sp>
      <p:sp>
        <p:nvSpPr>
          <p:cNvPr id="2" name="TextBox 1">
            <a:extLst>
              <a:ext uri="{FF2B5EF4-FFF2-40B4-BE49-F238E27FC236}">
                <a16:creationId xmlns:a16="http://schemas.microsoft.com/office/drawing/2014/main" id="{88F856A2-7EBF-A18E-9122-6F95F62AE4BF}"/>
              </a:ext>
            </a:extLst>
          </p:cNvPr>
          <p:cNvSpPr txBox="1"/>
          <p:nvPr/>
        </p:nvSpPr>
        <p:spPr>
          <a:xfrm>
            <a:off x="821094" y="1483567"/>
            <a:ext cx="7091265" cy="3693319"/>
          </a:xfrm>
          <a:prstGeom prst="rect">
            <a:avLst/>
          </a:prstGeom>
          <a:noFill/>
        </p:spPr>
        <p:txBody>
          <a:bodyPr wrap="square" rtlCol="0">
            <a:spAutoFit/>
          </a:bodyPr>
          <a:lstStyle/>
          <a:p>
            <a:pPr marL="285750" indent="-285750">
              <a:buClr>
                <a:schemeClr val="tx1"/>
              </a:buClr>
              <a:buSzPct val="117000"/>
              <a:buFont typeface="Wingdings" panose="05000000000000000000" pitchFamily="2" charset="2"/>
              <a:buChar char="v"/>
            </a:pPr>
            <a:r>
              <a:rPr lang="en-US" sz="1800" dirty="0"/>
              <a:t>At present, paralyzed individuals need guidance to perform tasks. A caregiver should be present to assist them. By employing eyeball tracking technology, we can locate the centroid on the eye and track the eye movements of paralyzed individuals. </a:t>
            </a:r>
          </a:p>
          <a:p>
            <a:pPr marL="285750" indent="-285750">
              <a:buFont typeface="Wingdings" panose="05000000000000000000" pitchFamily="2" charset="2"/>
              <a:buChar char="v"/>
            </a:pPr>
            <a:r>
              <a:rPr lang="en-US" sz="1800" dirty="0"/>
              <a:t>This eyeball tracking mechanism has various applications, including home automation through Python GUI, robotic control, and OpenCV. This paper introduces a real-time eye gesture system. The experimental setup utilizes a low-cost webcam with high-definition recording capabilities fixed in position. A camera mounted on a computer monitor captures images of a laptop. This project proposes an effective hand gesture segmentation technique utilizing preprocessing, background subtraction, and edge detection methods.</a:t>
            </a:r>
            <a:endParaRPr lang="en-IN"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2807250" y="383950"/>
            <a:ext cx="3529500" cy="5517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OBJECTIVE</a:t>
            </a:r>
            <a:endParaRPr/>
          </a:p>
        </p:txBody>
      </p:sp>
      <p:sp>
        <p:nvSpPr>
          <p:cNvPr id="75" name="Google Shape;75;p11"/>
          <p:cNvSpPr txBox="1"/>
          <p:nvPr/>
        </p:nvSpPr>
        <p:spPr>
          <a:xfrm>
            <a:off x="457200" y="1408620"/>
            <a:ext cx="8229600" cy="1951816"/>
          </a:xfrm>
          <a:prstGeom prst="rect">
            <a:avLst/>
          </a:prstGeom>
          <a:noFill/>
          <a:ln>
            <a:noFill/>
          </a:ln>
        </p:spPr>
        <p:txBody>
          <a:bodyPr spcFirstLastPara="1" wrap="square" lIns="0" tIns="12700" rIns="0" bIns="0" anchor="t" anchorCtr="0">
            <a:spAutoFit/>
          </a:bodyPr>
          <a:lstStyle/>
          <a:p>
            <a:pPr marL="457200" lvl="0" indent="-349250" algn="just" rtl="0">
              <a:spcBef>
                <a:spcPts val="0"/>
              </a:spcBef>
              <a:spcAft>
                <a:spcPts val="0"/>
              </a:spcAft>
              <a:buSzPts val="1900"/>
              <a:buFont typeface="Wingdings" panose="05000000000000000000" pitchFamily="2" charset="2"/>
              <a:buChar char="v"/>
            </a:pPr>
            <a:r>
              <a:rPr lang="en-US" sz="1800" dirty="0">
                <a:latin typeface="Times New Roman"/>
                <a:ea typeface="Times New Roman"/>
                <a:cs typeface="Times New Roman"/>
                <a:sym typeface="Times New Roman"/>
              </a:rPr>
              <a:t>To design and implement a virtual mouse system utilizing eye-tracking technology, with the goal of providing an intuitive and accessible interface for users to control computers and interact with digital environments solely through eye movements. This project aims to achieve high accuracy in eye tracking, real-time responsiveness in cursor movement, and user-friendly calibration methods, ultimately enhancing accessibility for individuals with motor impairments and providing an alternative input method for all users.</a:t>
            </a:r>
            <a:endParaRPr sz="1800" dirty="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a:off x="1762699" y="393382"/>
            <a:ext cx="5618480" cy="558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SYSTEM REQUIREMENTS</a:t>
            </a:r>
            <a:endParaRPr dirty="0"/>
          </a:p>
        </p:txBody>
      </p:sp>
      <p:sp>
        <p:nvSpPr>
          <p:cNvPr id="81" name="Google Shape;81;p12"/>
          <p:cNvSpPr txBox="1"/>
          <p:nvPr/>
        </p:nvSpPr>
        <p:spPr>
          <a:xfrm>
            <a:off x="495250" y="1524000"/>
            <a:ext cx="8648750" cy="4837222"/>
          </a:xfrm>
          <a:prstGeom prst="rect">
            <a:avLst/>
          </a:prstGeom>
          <a:noFill/>
          <a:ln>
            <a:noFill/>
          </a:ln>
        </p:spPr>
        <p:txBody>
          <a:bodyPr spcFirstLastPara="1" wrap="square" lIns="0" tIns="12700" rIns="0" bIns="0" anchor="t" anchorCtr="0">
            <a:spAutoFit/>
          </a:bodyPr>
          <a:lstStyle/>
          <a:p>
            <a:pPr marL="241300" marR="0" lvl="0" indent="-228600" algn="just" rtl="0">
              <a:lnSpc>
                <a:spcPct val="150000"/>
              </a:lnSpc>
              <a:spcBef>
                <a:spcPts val="0"/>
              </a:spcBef>
              <a:spcAft>
                <a:spcPts val="0"/>
              </a:spcAft>
              <a:buClr>
                <a:schemeClr val="dk1"/>
              </a:buClr>
              <a:buSzPts val="1900"/>
              <a:buFont typeface="Times New Roman"/>
              <a:buAutoNum type="arabicPeriod"/>
            </a:pPr>
            <a:r>
              <a:rPr lang="en-US" sz="1800" b="1" u="sng" dirty="0">
                <a:solidFill>
                  <a:schemeClr val="dk1"/>
                </a:solidFill>
                <a:latin typeface="Times New Roman"/>
                <a:ea typeface="Times New Roman"/>
                <a:cs typeface="Times New Roman"/>
                <a:sym typeface="Times New Roman"/>
              </a:rPr>
              <a:t>Hardware Requirements</a:t>
            </a:r>
            <a:r>
              <a:rPr lang="en-US" sz="1800" b="1" dirty="0">
                <a:solidFill>
                  <a:schemeClr val="dk1"/>
                </a:solidFill>
                <a:latin typeface="Times New Roman"/>
                <a:ea typeface="Times New Roman"/>
                <a:cs typeface="Times New Roman"/>
                <a:sym typeface="Times New Roman"/>
              </a:rPr>
              <a:t>:</a:t>
            </a:r>
            <a:endParaRPr lang="en-US" sz="1800" dirty="0">
              <a:solidFill>
                <a:schemeClr val="dk1"/>
              </a:solidFill>
              <a:latin typeface="Times New Roman"/>
              <a:ea typeface="Times New Roman"/>
              <a:cs typeface="Times New Roman"/>
              <a:sym typeface="Times New Roman"/>
            </a:endParaRPr>
          </a:p>
          <a:p>
            <a:pPr marL="12700" marR="0" lvl="0" algn="just" rtl="0">
              <a:lnSpc>
                <a:spcPct val="150000"/>
              </a:lnSpc>
              <a:spcBef>
                <a:spcPts val="0"/>
              </a:spcBef>
              <a:spcAft>
                <a:spcPts val="0"/>
              </a:spcAft>
              <a:buClr>
                <a:schemeClr val="dk1"/>
              </a:buClr>
              <a:buSzPts val="1900"/>
            </a:pPr>
            <a:r>
              <a:rPr lang="en-IN" sz="18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Intel® </a:t>
            </a:r>
            <a:r>
              <a:rPr lang="en-IN" sz="1800" b="0" i="0"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CoreT</a:t>
            </a:r>
            <a:r>
              <a:rPr lang="en-IN" sz="18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i3-2350M CPU @ 2.30GHz Installed memory(RAM):4 </a:t>
            </a:r>
            <a:r>
              <a:rPr lang="en-IN" sz="1800" b="0" i="0"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GB.System</a:t>
            </a:r>
            <a:r>
              <a:rPr lang="en-IN" sz="18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Type: 64-bit Operating System. Hard disk: 10 GB of available space or </a:t>
            </a:r>
            <a:r>
              <a:rPr lang="en-IN" sz="1800" b="0" i="0" u="none" strike="noStrike" cap="none" dirty="0" err="1">
                <a:solidFill>
                  <a:schemeClr val="dk1"/>
                </a:solidFill>
                <a:latin typeface="Times New Roman" panose="02020603050405020304" pitchFamily="18" charset="0"/>
                <a:ea typeface="Times New Roman"/>
                <a:cs typeface="Times New Roman" panose="02020603050405020304" pitchFamily="18" charset="0"/>
                <a:sym typeface="Times New Roman"/>
              </a:rPr>
              <a:t>more.Display</a:t>
            </a:r>
            <a:r>
              <a:rPr lang="en-IN" sz="18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 Higher resolution monitors</a:t>
            </a:r>
            <a:r>
              <a:rPr lang="en-IN" sz="1800" b="0" i="0" u="none" strike="noStrike" cap="none" dirty="0">
                <a:solidFill>
                  <a:schemeClr val="dk1"/>
                </a:solidFill>
                <a:latin typeface="Times New Roman"/>
                <a:ea typeface="Times New Roman"/>
                <a:cs typeface="Times New Roman"/>
                <a:sym typeface="Times New Roman"/>
              </a:rPr>
              <a:t>.</a:t>
            </a:r>
          </a:p>
          <a:p>
            <a:pPr marL="12700" marR="0" lvl="0" algn="just" rtl="0">
              <a:lnSpc>
                <a:spcPct val="150000"/>
              </a:lnSpc>
              <a:spcBef>
                <a:spcPts val="0"/>
              </a:spcBef>
              <a:spcAft>
                <a:spcPts val="0"/>
              </a:spcAft>
              <a:buClr>
                <a:schemeClr val="dk1"/>
              </a:buClr>
              <a:buSzPts val="1900"/>
            </a:pPr>
            <a:r>
              <a:rPr lang="en-US" sz="1800" b="1" i="0" u="sng" strike="noStrike" cap="none" dirty="0">
                <a:solidFill>
                  <a:schemeClr val="dk1"/>
                </a:solidFill>
                <a:latin typeface="Times New Roman"/>
                <a:ea typeface="Times New Roman"/>
                <a:cs typeface="Times New Roman"/>
                <a:sym typeface="Times New Roman"/>
              </a:rPr>
              <a:t>2. Software Requirements:</a:t>
            </a:r>
          </a:p>
          <a:p>
            <a:pPr marL="12700" marR="0" lvl="0" algn="just" rtl="0">
              <a:lnSpc>
                <a:spcPct val="150000"/>
              </a:lnSpc>
              <a:spcBef>
                <a:spcPts val="0"/>
              </a:spcBef>
              <a:spcAft>
                <a:spcPts val="0"/>
              </a:spcAft>
              <a:buClr>
                <a:schemeClr val="dk1"/>
              </a:buClr>
              <a:buSzPts val="1900"/>
            </a:pPr>
            <a:r>
              <a:rPr lang="en-US" sz="1800" dirty="0">
                <a:solidFill>
                  <a:schemeClr val="dk1"/>
                </a:solidFill>
                <a:latin typeface="Times New Roman"/>
                <a:ea typeface="Times New Roman"/>
                <a:cs typeface="Times New Roman"/>
                <a:sym typeface="Times New Roman"/>
              </a:rPr>
              <a:t>    -</a:t>
            </a:r>
            <a:r>
              <a:rPr lang="en-US" sz="18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PYCHARM IDE</a:t>
            </a:r>
            <a:r>
              <a:rPr lang="en-US" sz="1800" b="0" i="0" u="none" strike="noStrike" cap="none" dirty="0">
                <a:solidFill>
                  <a:schemeClr val="dk1"/>
                </a:solidFill>
                <a:latin typeface="Times New Roman"/>
                <a:ea typeface="Times New Roman"/>
                <a:cs typeface="Times New Roman"/>
                <a:sym typeface="Times New Roman"/>
              </a:rPr>
              <a:t>.</a:t>
            </a:r>
            <a:endParaRPr lang="en-IN" sz="1800" b="0" i="0" u="none" strike="noStrike" cap="none" dirty="0">
              <a:solidFill>
                <a:schemeClr val="dk1"/>
              </a:solidFill>
              <a:latin typeface="Times New Roman"/>
              <a:ea typeface="Times New Roman"/>
              <a:cs typeface="Times New Roman"/>
              <a:sym typeface="Times New Roman"/>
            </a:endParaRPr>
          </a:p>
          <a:p>
            <a:pPr marL="12700" marR="0" lvl="0" algn="just" rtl="0">
              <a:lnSpc>
                <a:spcPct val="150000"/>
              </a:lnSpc>
              <a:spcBef>
                <a:spcPts val="0"/>
              </a:spcBef>
              <a:spcAft>
                <a:spcPts val="0"/>
              </a:spcAft>
              <a:buClr>
                <a:schemeClr val="dk1"/>
              </a:buClr>
              <a:buSzPts val="1900"/>
            </a:pPr>
            <a:endParaRPr sz="1900" dirty="0">
              <a:solidFill>
                <a:schemeClr val="dk1"/>
              </a:solidFill>
              <a:latin typeface="Times New Roman"/>
              <a:ea typeface="Times New Roman"/>
              <a:cs typeface="Times New Roman"/>
              <a:sym typeface="Times New Roman"/>
            </a:endParaRPr>
          </a:p>
          <a:p>
            <a:pPr marL="184150" marR="0" lvl="1" algn="just" rtl="0">
              <a:lnSpc>
                <a:spcPct val="150000"/>
              </a:lnSpc>
              <a:spcBef>
                <a:spcPts val="0"/>
              </a:spcBef>
              <a:spcAft>
                <a:spcPts val="0"/>
              </a:spcAft>
              <a:buClr>
                <a:schemeClr val="dk1"/>
              </a:buClr>
              <a:buSzPts val="1900"/>
            </a:pPr>
            <a:endParaRPr sz="1900" dirty="0">
              <a:latin typeface="Times New Roman"/>
              <a:ea typeface="Times New Roman"/>
              <a:cs typeface="Times New Roman"/>
              <a:sym typeface="Times New Roman"/>
            </a:endParaRPr>
          </a:p>
          <a:p>
            <a:pPr marL="0" marR="0" lvl="0" indent="0" algn="just" rtl="0">
              <a:lnSpc>
                <a:spcPct val="150000"/>
              </a:lnSpc>
              <a:spcBef>
                <a:spcPts val="0"/>
              </a:spcBef>
              <a:spcAft>
                <a:spcPts val="0"/>
              </a:spcAft>
              <a:buNone/>
            </a:pPr>
            <a:endParaRPr sz="1900" dirty="0">
              <a:solidFill>
                <a:schemeClr val="dk1"/>
              </a:solidFill>
              <a:latin typeface="Calibri"/>
              <a:ea typeface="Calibri"/>
              <a:cs typeface="Calibri"/>
              <a:sym typeface="Calibri"/>
            </a:endParaRPr>
          </a:p>
          <a:p>
            <a:pPr marL="183515" marR="0" lvl="1" indent="0" algn="just" rtl="0">
              <a:lnSpc>
                <a:spcPct val="150000"/>
              </a:lnSpc>
              <a:spcBef>
                <a:spcPts val="0"/>
              </a:spcBef>
              <a:spcAft>
                <a:spcPts val="0"/>
              </a:spcAft>
              <a:buNone/>
            </a:pPr>
            <a:endParaRPr sz="1900" b="0" i="0" u="none" strike="noStrike" cap="none" dirty="0">
              <a:solidFill>
                <a:schemeClr val="dk1"/>
              </a:solidFill>
              <a:latin typeface="Times New Roman"/>
              <a:ea typeface="Times New Roman"/>
              <a:cs typeface="Times New Roman"/>
              <a:sym typeface="Times New Roman"/>
            </a:endParaRPr>
          </a:p>
          <a:p>
            <a:pPr marL="183515" marR="0" lvl="1" indent="0" algn="just" rtl="0">
              <a:lnSpc>
                <a:spcPct val="150000"/>
              </a:lnSpc>
              <a:spcBef>
                <a:spcPts val="0"/>
              </a:spcBef>
              <a:spcAft>
                <a:spcPts val="0"/>
              </a:spcAft>
              <a:buNone/>
            </a:pPr>
            <a:endParaRPr sz="1900" b="0" i="0" u="none" strike="noStrike" cap="none" dirty="0">
              <a:solidFill>
                <a:schemeClr val="dk1"/>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336E0E5-3A1D-D73B-3D23-5453B4CE9E1E}"/>
              </a:ext>
            </a:extLst>
          </p:cNvPr>
          <p:cNvPicPr>
            <a:picLocks noChangeAspect="1"/>
          </p:cNvPicPr>
          <p:nvPr/>
        </p:nvPicPr>
        <p:blipFill>
          <a:blip r:embed="rId3"/>
          <a:stretch>
            <a:fillRect/>
          </a:stretch>
        </p:blipFill>
        <p:spPr>
          <a:xfrm>
            <a:off x="4982185" y="4001452"/>
            <a:ext cx="3886200" cy="11715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graphicFrame>
        <p:nvGraphicFramePr>
          <p:cNvPr id="86" name="Google Shape;86;p13"/>
          <p:cNvGraphicFramePr/>
          <p:nvPr>
            <p:extLst>
              <p:ext uri="{D42A27DB-BD31-4B8C-83A1-F6EECF244321}">
                <p14:modId xmlns:p14="http://schemas.microsoft.com/office/powerpoint/2010/main" val="1815163774"/>
              </p:ext>
            </p:extLst>
          </p:nvPr>
        </p:nvGraphicFramePr>
        <p:xfrm>
          <a:off x="457200" y="1222899"/>
          <a:ext cx="8229575" cy="5216636"/>
        </p:xfrm>
        <a:graphic>
          <a:graphicData uri="http://schemas.openxmlformats.org/drawingml/2006/table">
            <a:tbl>
              <a:tblPr firstRow="1" bandRow="1">
                <a:noFill/>
                <a:tableStyleId>{1908E489-954A-4B23-8175-D0DA4ACF93C2}</a:tableStyleId>
              </a:tblPr>
              <a:tblGrid>
                <a:gridCol w="1600825">
                  <a:extLst>
                    <a:ext uri="{9D8B030D-6E8A-4147-A177-3AD203B41FA5}">
                      <a16:colId xmlns:a16="http://schemas.microsoft.com/office/drawing/2014/main" val="20000"/>
                    </a:ext>
                  </a:extLst>
                </a:gridCol>
                <a:gridCol w="1600825">
                  <a:extLst>
                    <a:ext uri="{9D8B030D-6E8A-4147-A177-3AD203B41FA5}">
                      <a16:colId xmlns:a16="http://schemas.microsoft.com/office/drawing/2014/main" val="20001"/>
                    </a:ext>
                  </a:extLst>
                </a:gridCol>
                <a:gridCol w="1600825">
                  <a:extLst>
                    <a:ext uri="{9D8B030D-6E8A-4147-A177-3AD203B41FA5}">
                      <a16:colId xmlns:a16="http://schemas.microsoft.com/office/drawing/2014/main" val="20002"/>
                    </a:ext>
                  </a:extLst>
                </a:gridCol>
                <a:gridCol w="18269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339525">
                <a:tc>
                  <a:txBody>
                    <a:bodyPr/>
                    <a:lstStyle/>
                    <a:p>
                      <a:pPr marL="0" marR="0" lvl="0" indent="0" algn="ctr" rtl="0">
                        <a:lnSpc>
                          <a:spcPct val="100000"/>
                        </a:lnSpc>
                        <a:spcBef>
                          <a:spcPts val="0"/>
                        </a:spcBef>
                        <a:spcAft>
                          <a:spcPts val="0"/>
                        </a:spcAft>
                        <a:buNone/>
                      </a:pPr>
                      <a:r>
                        <a:rPr lang="en-US" sz="1900" b="1" u="none" strike="noStrike" cap="none" dirty="0">
                          <a:solidFill>
                            <a:srgbClr val="FFFFFF"/>
                          </a:solidFill>
                          <a:latin typeface="Times New Roman"/>
                          <a:ea typeface="Times New Roman"/>
                          <a:cs typeface="Times New Roman"/>
                          <a:sym typeface="Times New Roman"/>
                        </a:rPr>
                        <a:t>S.NO</a:t>
                      </a:r>
                      <a:endParaRPr sz="1900" u="none" strike="noStrike" cap="none" dirty="0">
                        <a:latin typeface="Times New Roman"/>
                        <a:ea typeface="Times New Roman"/>
                        <a:cs typeface="Times New Roman"/>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27BA3"/>
                    </a:solidFill>
                  </a:tcPr>
                </a:tc>
                <a:tc>
                  <a:txBody>
                    <a:bodyPr/>
                    <a:lstStyle/>
                    <a:p>
                      <a:pPr marL="447675" marR="0" lvl="0" indent="0" algn="l" rtl="0">
                        <a:lnSpc>
                          <a:spcPct val="100000"/>
                        </a:lnSpc>
                        <a:spcBef>
                          <a:spcPts val="0"/>
                        </a:spcBef>
                        <a:spcAft>
                          <a:spcPts val="0"/>
                        </a:spcAft>
                        <a:buNone/>
                      </a:pPr>
                      <a:r>
                        <a:rPr lang="en-US" sz="1900" b="1" u="none" strike="noStrike" cap="none">
                          <a:solidFill>
                            <a:srgbClr val="FFFFFF"/>
                          </a:solidFill>
                          <a:latin typeface="Times New Roman"/>
                          <a:ea typeface="Times New Roman"/>
                          <a:cs typeface="Times New Roman"/>
                          <a:sym typeface="Times New Roman"/>
                        </a:rPr>
                        <a:t>Name</a:t>
                      </a:r>
                      <a:endParaRPr sz="1900" u="none" strike="noStrike" cap="none">
                        <a:latin typeface="Times New Roman"/>
                        <a:ea typeface="Times New Roman"/>
                        <a:cs typeface="Times New Roman"/>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27BA3"/>
                    </a:solidFill>
                  </a:tcPr>
                </a:tc>
                <a:tc>
                  <a:txBody>
                    <a:bodyPr/>
                    <a:lstStyle/>
                    <a:p>
                      <a:pPr marL="536575" marR="0" lvl="0" indent="0" algn="l" rtl="0">
                        <a:lnSpc>
                          <a:spcPct val="100000"/>
                        </a:lnSpc>
                        <a:spcBef>
                          <a:spcPts val="0"/>
                        </a:spcBef>
                        <a:spcAft>
                          <a:spcPts val="0"/>
                        </a:spcAft>
                        <a:buNone/>
                      </a:pPr>
                      <a:r>
                        <a:rPr lang="en-US" sz="1900" b="1" u="none" strike="noStrike" cap="none">
                          <a:solidFill>
                            <a:srgbClr val="FFFFFF"/>
                          </a:solidFill>
                          <a:latin typeface="Times New Roman"/>
                          <a:ea typeface="Times New Roman"/>
                          <a:cs typeface="Times New Roman"/>
                          <a:sym typeface="Times New Roman"/>
                        </a:rPr>
                        <a:t>Year</a:t>
                      </a:r>
                      <a:endParaRPr sz="1900" u="none" strike="noStrike" cap="none">
                        <a:latin typeface="Times New Roman"/>
                        <a:ea typeface="Times New Roman"/>
                        <a:cs typeface="Times New Roman"/>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27BA3"/>
                    </a:solidFill>
                  </a:tcPr>
                </a:tc>
                <a:tc>
                  <a:txBody>
                    <a:bodyPr/>
                    <a:lstStyle/>
                    <a:p>
                      <a:pPr marL="207645" marR="0" lvl="0" indent="0" algn="l" rtl="0">
                        <a:lnSpc>
                          <a:spcPct val="100000"/>
                        </a:lnSpc>
                        <a:spcBef>
                          <a:spcPts val="0"/>
                        </a:spcBef>
                        <a:spcAft>
                          <a:spcPts val="0"/>
                        </a:spcAft>
                        <a:buNone/>
                      </a:pPr>
                      <a:r>
                        <a:rPr lang="en-US" sz="1900" b="1" u="none" strike="noStrike" cap="none">
                          <a:solidFill>
                            <a:srgbClr val="FFFFFF"/>
                          </a:solidFill>
                          <a:latin typeface="Times New Roman"/>
                          <a:ea typeface="Times New Roman"/>
                          <a:cs typeface="Times New Roman"/>
                          <a:sym typeface="Times New Roman"/>
                        </a:rPr>
                        <a:t>Advantage</a:t>
                      </a:r>
                      <a:endParaRPr sz="1900" u="none" strike="noStrike" cap="none">
                        <a:latin typeface="Times New Roman"/>
                        <a:ea typeface="Times New Roman"/>
                        <a:cs typeface="Times New Roman"/>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27BA3"/>
                    </a:solidFill>
                  </a:tcPr>
                </a:tc>
                <a:tc>
                  <a:txBody>
                    <a:bodyPr/>
                    <a:lstStyle/>
                    <a:p>
                      <a:pPr marL="173990" marR="0" lvl="0" indent="0" algn="l" rtl="0">
                        <a:lnSpc>
                          <a:spcPct val="100000"/>
                        </a:lnSpc>
                        <a:spcBef>
                          <a:spcPts val="0"/>
                        </a:spcBef>
                        <a:spcAft>
                          <a:spcPts val="0"/>
                        </a:spcAft>
                        <a:buNone/>
                      </a:pPr>
                      <a:r>
                        <a:rPr lang="en-US" sz="1900" b="1" u="none" strike="noStrike" cap="none">
                          <a:solidFill>
                            <a:srgbClr val="FFFFFF"/>
                          </a:solidFill>
                          <a:latin typeface="Times New Roman"/>
                          <a:ea typeface="Times New Roman"/>
                          <a:cs typeface="Times New Roman"/>
                          <a:sym typeface="Times New Roman"/>
                        </a:rPr>
                        <a:t>Disadvantage</a:t>
                      </a:r>
                      <a:endParaRPr sz="1900" u="none" strike="noStrike" cap="none">
                        <a:latin typeface="Times New Roman"/>
                        <a:ea typeface="Times New Roman"/>
                        <a:cs typeface="Times New Roman"/>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27BA3"/>
                    </a:solidFill>
                  </a:tcPr>
                </a:tc>
                <a:extLst>
                  <a:ext uri="{0D108BD9-81ED-4DB2-BD59-A6C34878D82A}">
                    <a16:rowId xmlns:a16="http://schemas.microsoft.com/office/drawing/2014/main" val="10000"/>
                  </a:ext>
                </a:extLst>
              </a:tr>
              <a:tr h="2653976">
                <a:tc>
                  <a:txBody>
                    <a:bodyPr/>
                    <a:lstStyle/>
                    <a:p>
                      <a:pPr marL="0" marR="0" lvl="0" indent="0" algn="ctr" rtl="0">
                        <a:lnSpc>
                          <a:spcPct val="100000"/>
                        </a:lnSpc>
                        <a:spcBef>
                          <a:spcPts val="0"/>
                        </a:spcBef>
                        <a:spcAft>
                          <a:spcPts val="0"/>
                        </a:spcAft>
                        <a:buNone/>
                      </a:pPr>
                      <a:r>
                        <a:rPr lang="en-US" sz="1800" u="none" strike="noStrike" cap="none" dirty="0">
                          <a:latin typeface="Times New Roman"/>
                          <a:ea typeface="Times New Roman"/>
                          <a:cs typeface="Times New Roman"/>
                          <a:sym typeface="Times New Roman"/>
                        </a:rPr>
                        <a:t>1.</a:t>
                      </a:r>
                      <a:endParaRPr sz="1800" u="none" strike="noStrike" cap="none" dirty="0">
                        <a:latin typeface="Times New Roman"/>
                        <a:ea typeface="Times New Roman"/>
                        <a:cs typeface="Times New Roman"/>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4D7E0"/>
                    </a:solidFill>
                  </a:tcPr>
                </a:tc>
                <a:tc>
                  <a:txBody>
                    <a:bodyPr/>
                    <a:lstStyle/>
                    <a:p>
                      <a:pPr marL="132715" marR="126364" lvl="0" indent="0" algn="l" rtl="0">
                        <a:lnSpc>
                          <a:spcPct val="100000"/>
                        </a:lnSpc>
                        <a:spcBef>
                          <a:spcPts val="0"/>
                        </a:spcBef>
                        <a:spcAft>
                          <a:spcPts val="0"/>
                        </a:spcAft>
                        <a:buNone/>
                      </a:pPr>
                      <a:r>
                        <a:rPr lang="en-IN"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Singh et al.</a:t>
                      </a:r>
                      <a:endParaRPr sz="18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4D7E0"/>
                    </a:solidFill>
                  </a:tcPr>
                </a:tc>
                <a:tc>
                  <a:txBody>
                    <a:bodyPr/>
                    <a:lstStyle/>
                    <a:p>
                      <a:pPr marL="549275" marR="0" lvl="0" indent="0" algn="l" rtl="0">
                        <a:lnSpc>
                          <a:spcPct val="100000"/>
                        </a:lnSpc>
                        <a:spcBef>
                          <a:spcPts val="0"/>
                        </a:spcBef>
                        <a:spcAft>
                          <a:spcPts val="0"/>
                        </a:spcAft>
                        <a:buNone/>
                      </a:pPr>
                      <a:r>
                        <a:rPr lang="en-US" sz="1800" u="none" strike="noStrike" cap="none" dirty="0">
                          <a:latin typeface="Times New Roman"/>
                          <a:ea typeface="Times New Roman"/>
                          <a:cs typeface="Times New Roman"/>
                          <a:sym typeface="Times New Roman"/>
                        </a:rPr>
                        <a:t>2015</a:t>
                      </a:r>
                      <a:endParaRPr sz="1800" u="none" strike="noStrike" cap="none" dirty="0">
                        <a:latin typeface="Times New Roman"/>
                        <a:ea typeface="Times New Roman"/>
                        <a:cs typeface="Times New Roman"/>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4D7E0"/>
                    </a:solidFill>
                  </a:tcPr>
                </a:tc>
                <a:tc>
                  <a:txBody>
                    <a:bodyPr/>
                    <a:lstStyle/>
                    <a:p>
                      <a:pPr marL="0" lvl="0" indent="0" algn="l" rtl="0">
                        <a:spcBef>
                          <a:spcPts val="0"/>
                        </a:spcBef>
                        <a:spcAft>
                          <a:spcPts val="0"/>
                        </a:spcAft>
                        <a:buNone/>
                      </a:pPr>
                      <a:r>
                        <a:rPr lang="en-US"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High accuracy in cursor control using eye gaze.</a:t>
                      </a:r>
                    </a:p>
                    <a:p>
                      <a:pPr marL="0" lvl="0" indent="0" algn="l" rtl="0">
                        <a:spcBef>
                          <a:spcPts val="0"/>
                        </a:spcBef>
                        <a:spcAft>
                          <a:spcPts val="0"/>
                        </a:spcAft>
                        <a:buNone/>
                      </a:pPr>
                      <a:endParaRPr lang="en-US"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endParaRPr>
                    </a:p>
                    <a:p>
                      <a:pPr marL="0" lvl="0" indent="0" algn="l" rtl="0">
                        <a:spcBef>
                          <a:spcPts val="0"/>
                        </a:spcBef>
                        <a:spcAft>
                          <a:spcPts val="0"/>
                        </a:spcAft>
                        <a:buNone/>
                      </a:pPr>
                      <a:r>
                        <a:rPr lang="en-IN"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Potential for hands-free operation</a:t>
                      </a:r>
                      <a:endParaRPr sz="1800" dirty="0">
                        <a:latin typeface="Times New Roman" panose="02020603050405020304" pitchFamily="18" charset="0"/>
                        <a:ea typeface="Times New Roman"/>
                        <a:cs typeface="Times New Roman" panose="02020603050405020304" pitchFamily="18" charset="0"/>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4D7E0"/>
                    </a:solidFill>
                  </a:tcPr>
                </a:tc>
                <a:tc>
                  <a:txBody>
                    <a:bodyPr/>
                    <a:lstStyle/>
                    <a:p>
                      <a:pPr marL="0" lvl="0" indent="0" algn="l" rtl="0">
                        <a:spcBef>
                          <a:spcPts val="0"/>
                        </a:spcBef>
                        <a:spcAft>
                          <a:spcPts val="0"/>
                        </a:spcAft>
                        <a:buNone/>
                      </a:pPr>
                      <a:r>
                        <a:rPr lang="en-IN"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Requires specialized hardware (eye-tracking)</a:t>
                      </a:r>
                    </a:p>
                    <a:p>
                      <a:pPr marL="0" lvl="0" indent="0" algn="l" rtl="0">
                        <a:spcBef>
                          <a:spcPts val="0"/>
                        </a:spcBef>
                        <a:spcAft>
                          <a:spcPts val="0"/>
                        </a:spcAft>
                        <a:buNone/>
                      </a:pPr>
                      <a:endParaRPr lang="en-IN"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endParaRPr>
                    </a:p>
                    <a:p>
                      <a:pPr marL="0" lvl="0" indent="0" algn="l" rtl="0">
                        <a:spcBef>
                          <a:spcPts val="0"/>
                        </a:spcBef>
                        <a:spcAft>
                          <a:spcPts val="0"/>
                        </a:spcAft>
                        <a:buNone/>
                      </a:pPr>
                      <a:r>
                        <a:rPr lang="en-US"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The calibration process may be time-consuming</a:t>
                      </a:r>
                      <a:endParaRPr sz="1800" dirty="0">
                        <a:latin typeface="Times New Roman" panose="02020603050405020304" pitchFamily="18" charset="0"/>
                        <a:ea typeface="Times New Roman"/>
                        <a:cs typeface="Times New Roman" panose="02020603050405020304" pitchFamily="18" charset="0"/>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4D7E0"/>
                    </a:solidFill>
                  </a:tcPr>
                </a:tc>
                <a:extLst>
                  <a:ext uri="{0D108BD9-81ED-4DB2-BD59-A6C34878D82A}">
                    <a16:rowId xmlns:a16="http://schemas.microsoft.com/office/drawing/2014/main" val="10001"/>
                  </a:ext>
                </a:extLst>
              </a:tr>
              <a:tr h="1930050">
                <a:tc>
                  <a:txBody>
                    <a:bodyPr/>
                    <a:lstStyle/>
                    <a:p>
                      <a:pPr marL="0" marR="0" lvl="0" indent="0" algn="ctr"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2.</a:t>
                      </a:r>
                      <a:endParaRPr sz="1800" u="none" strike="noStrike" cap="none">
                        <a:latin typeface="Times New Roman"/>
                        <a:ea typeface="Times New Roman"/>
                        <a:cs typeface="Times New Roman"/>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BECF0"/>
                    </a:solidFill>
                  </a:tcPr>
                </a:tc>
                <a:tc>
                  <a:txBody>
                    <a:bodyPr/>
                    <a:lstStyle/>
                    <a:p>
                      <a:pPr marL="0" marR="0" lvl="0" indent="0" algn="ctr" rtl="0">
                        <a:lnSpc>
                          <a:spcPct val="100000"/>
                        </a:lnSpc>
                        <a:spcBef>
                          <a:spcPts val="225"/>
                        </a:spcBef>
                        <a:spcAft>
                          <a:spcPts val="0"/>
                        </a:spcAft>
                        <a:buNone/>
                      </a:pPr>
                      <a:r>
                        <a:rPr lang="en-IN"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Kim et al.</a:t>
                      </a:r>
                      <a:endParaRPr sz="18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BECF0"/>
                    </a:solidFill>
                  </a:tcPr>
                </a:tc>
                <a:tc>
                  <a:txBody>
                    <a:bodyPr/>
                    <a:lstStyle/>
                    <a:p>
                      <a:pPr marL="549275" marR="0" lvl="0" indent="0" algn="l" rtl="0">
                        <a:lnSpc>
                          <a:spcPct val="100000"/>
                        </a:lnSpc>
                        <a:spcBef>
                          <a:spcPts val="0"/>
                        </a:spcBef>
                        <a:spcAft>
                          <a:spcPts val="0"/>
                        </a:spcAft>
                        <a:buNone/>
                      </a:pPr>
                      <a:r>
                        <a:rPr lang="en-US" sz="1800" u="none" strike="noStrike" cap="none" dirty="0">
                          <a:latin typeface="Times New Roman"/>
                          <a:ea typeface="Times New Roman"/>
                          <a:cs typeface="Times New Roman"/>
                          <a:sym typeface="Times New Roman"/>
                        </a:rPr>
                        <a:t>2017</a:t>
                      </a:r>
                      <a:endParaRPr sz="1800" u="none" strike="noStrike" cap="none" dirty="0">
                        <a:latin typeface="Times New Roman"/>
                        <a:ea typeface="Times New Roman"/>
                        <a:cs typeface="Times New Roman"/>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BECF0"/>
                    </a:solidFill>
                  </a:tcPr>
                </a:tc>
                <a:tc>
                  <a:txBody>
                    <a:bodyPr/>
                    <a:lstStyle/>
                    <a:p>
                      <a:pPr marL="0" lvl="0" indent="0" algn="l" rtl="0">
                        <a:spcBef>
                          <a:spcPts val="0"/>
                        </a:spcBef>
                        <a:spcAft>
                          <a:spcPts val="0"/>
                        </a:spcAft>
                        <a:buNone/>
                      </a:pPr>
                      <a:r>
                        <a:rPr lang="en-US"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Suitable for users with motor disabilities</a:t>
                      </a:r>
                    </a:p>
                    <a:p>
                      <a:pPr marL="0" lvl="0" indent="0" algn="l" rtl="0">
                        <a:spcBef>
                          <a:spcPts val="0"/>
                        </a:spcBef>
                        <a:spcAft>
                          <a:spcPts val="0"/>
                        </a:spcAft>
                        <a:buNone/>
                      </a:pPr>
                      <a:r>
                        <a:rPr lang="en-IN"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Real-time eye-tracking integration</a:t>
                      </a:r>
                      <a:endParaRPr sz="1800" dirty="0">
                        <a:latin typeface="Times New Roman" panose="02020603050405020304" pitchFamily="18" charset="0"/>
                        <a:ea typeface="Times New Roman"/>
                        <a:cs typeface="Times New Roman" panose="02020603050405020304" pitchFamily="18" charset="0"/>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BECF0"/>
                    </a:solidFill>
                  </a:tcPr>
                </a:tc>
                <a:tc>
                  <a:txBody>
                    <a:bodyPr/>
                    <a:lstStyle/>
                    <a:p>
                      <a:pPr marL="0" lvl="0" indent="0" algn="l" rtl="0">
                        <a:spcBef>
                          <a:spcPts val="0"/>
                        </a:spcBef>
                        <a:spcAft>
                          <a:spcPts val="0"/>
                        </a:spcAft>
                        <a:buNone/>
                      </a:pPr>
                      <a:r>
                        <a:rPr lang="en-US"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Dependency on stable lighting conditions</a:t>
                      </a:r>
                    </a:p>
                    <a:p>
                      <a:pPr marL="0" lvl="0" indent="0" algn="l" rtl="0">
                        <a:spcBef>
                          <a:spcPts val="0"/>
                        </a:spcBef>
                        <a:spcAft>
                          <a:spcPts val="0"/>
                        </a:spcAft>
                        <a:buNone/>
                      </a:pPr>
                      <a:endParaRPr lang="en-US"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endParaRPr>
                    </a:p>
                    <a:p>
                      <a:pPr marL="0" lvl="0" indent="0" algn="l" rtl="0">
                        <a:spcBef>
                          <a:spcPts val="0"/>
                        </a:spcBef>
                        <a:spcAft>
                          <a:spcPts val="0"/>
                        </a:spcAft>
                        <a:buNone/>
                      </a:pPr>
                      <a:r>
                        <a:rPr lang="en-US"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Challenges in maintaining calibration accuracy</a:t>
                      </a: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BECF0"/>
                    </a:solidFill>
                  </a:tcPr>
                </a:tc>
                <a:extLst>
                  <a:ext uri="{0D108BD9-81ED-4DB2-BD59-A6C34878D82A}">
                    <a16:rowId xmlns:a16="http://schemas.microsoft.com/office/drawing/2014/main" val="10002"/>
                  </a:ext>
                </a:extLst>
              </a:tr>
            </a:tbl>
          </a:graphicData>
        </a:graphic>
      </p:graphicFrame>
      <p:sp>
        <p:nvSpPr>
          <p:cNvPr id="87" name="Google Shape;87;p13"/>
          <p:cNvSpPr txBox="1">
            <a:spLocks noGrp="1"/>
          </p:cNvSpPr>
          <p:nvPr>
            <p:ph type="title"/>
          </p:nvPr>
        </p:nvSpPr>
        <p:spPr>
          <a:xfrm>
            <a:off x="2031365" y="439420"/>
            <a:ext cx="5588635" cy="558800"/>
          </a:xfrm>
          <a:prstGeom prst="rect">
            <a:avLst/>
          </a:prstGeom>
          <a:noFill/>
          <a:ln>
            <a:noFill/>
          </a:ln>
        </p:spPr>
        <p:txBody>
          <a:bodyPr spcFirstLastPara="1" wrap="square" lIns="0" tIns="12700" rIns="0" bIns="0" anchor="t" anchorCtr="0">
            <a:spAutoFit/>
          </a:bodyPr>
          <a:lstStyle/>
          <a:p>
            <a:pPr marL="244475" lvl="0" indent="0" algn="l" rtl="0">
              <a:lnSpc>
                <a:spcPct val="100000"/>
              </a:lnSpc>
              <a:spcBef>
                <a:spcPts val="0"/>
              </a:spcBef>
              <a:spcAft>
                <a:spcPts val="0"/>
              </a:spcAft>
              <a:buNone/>
            </a:pPr>
            <a:r>
              <a:rPr lang="en-US" dirty="0"/>
              <a:t>LITERATURE SURVEY</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graphicFrame>
        <p:nvGraphicFramePr>
          <p:cNvPr id="92" name="Google Shape;92;p14"/>
          <p:cNvGraphicFramePr/>
          <p:nvPr>
            <p:extLst>
              <p:ext uri="{D42A27DB-BD31-4B8C-83A1-F6EECF244321}">
                <p14:modId xmlns:p14="http://schemas.microsoft.com/office/powerpoint/2010/main" val="328233253"/>
              </p:ext>
            </p:extLst>
          </p:nvPr>
        </p:nvGraphicFramePr>
        <p:xfrm>
          <a:off x="457201" y="1374245"/>
          <a:ext cx="8412481" cy="5650230"/>
        </p:xfrm>
        <a:graphic>
          <a:graphicData uri="http://schemas.openxmlformats.org/drawingml/2006/table">
            <a:tbl>
              <a:tblPr firstRow="1" bandRow="1">
                <a:noFill/>
                <a:tableStyleId>{1908E489-954A-4B23-8175-D0DA4ACF93C2}</a:tableStyleId>
              </a:tblPr>
              <a:tblGrid>
                <a:gridCol w="1636409">
                  <a:extLst>
                    <a:ext uri="{9D8B030D-6E8A-4147-A177-3AD203B41FA5}">
                      <a16:colId xmlns:a16="http://schemas.microsoft.com/office/drawing/2014/main" val="20000"/>
                    </a:ext>
                  </a:extLst>
                </a:gridCol>
                <a:gridCol w="1636409">
                  <a:extLst>
                    <a:ext uri="{9D8B030D-6E8A-4147-A177-3AD203B41FA5}">
                      <a16:colId xmlns:a16="http://schemas.microsoft.com/office/drawing/2014/main" val="20001"/>
                    </a:ext>
                  </a:extLst>
                </a:gridCol>
                <a:gridCol w="1636409">
                  <a:extLst>
                    <a:ext uri="{9D8B030D-6E8A-4147-A177-3AD203B41FA5}">
                      <a16:colId xmlns:a16="http://schemas.microsoft.com/office/drawing/2014/main" val="20002"/>
                    </a:ext>
                  </a:extLst>
                </a:gridCol>
                <a:gridCol w="1636409">
                  <a:extLst>
                    <a:ext uri="{9D8B030D-6E8A-4147-A177-3AD203B41FA5}">
                      <a16:colId xmlns:a16="http://schemas.microsoft.com/office/drawing/2014/main" val="20003"/>
                    </a:ext>
                  </a:extLst>
                </a:gridCol>
                <a:gridCol w="1866845">
                  <a:extLst>
                    <a:ext uri="{9D8B030D-6E8A-4147-A177-3AD203B41FA5}">
                      <a16:colId xmlns:a16="http://schemas.microsoft.com/office/drawing/2014/main" val="20004"/>
                    </a:ext>
                  </a:extLst>
                </a:gridCol>
              </a:tblGrid>
              <a:tr h="283740">
                <a:tc>
                  <a:txBody>
                    <a:bodyPr/>
                    <a:lstStyle/>
                    <a:p>
                      <a:pPr marL="0" marR="0" lvl="0" indent="0" algn="ctr" rtl="0">
                        <a:lnSpc>
                          <a:spcPct val="100000"/>
                        </a:lnSpc>
                        <a:spcBef>
                          <a:spcPts val="0"/>
                        </a:spcBef>
                        <a:spcAft>
                          <a:spcPts val="0"/>
                        </a:spcAft>
                        <a:buNone/>
                      </a:pPr>
                      <a:r>
                        <a:rPr lang="en-US" sz="1900" b="1" u="none" strike="noStrike" cap="none">
                          <a:solidFill>
                            <a:srgbClr val="FFFFFF"/>
                          </a:solidFill>
                          <a:latin typeface="Times New Roman"/>
                          <a:ea typeface="Times New Roman"/>
                          <a:cs typeface="Times New Roman"/>
                          <a:sym typeface="Times New Roman"/>
                        </a:rPr>
                        <a:t>S.NO</a:t>
                      </a:r>
                      <a:endParaRPr sz="1900" u="none" strike="noStrike" cap="none">
                        <a:latin typeface="Times New Roman"/>
                        <a:ea typeface="Times New Roman"/>
                        <a:cs typeface="Times New Roman"/>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27BA3"/>
                    </a:solidFill>
                  </a:tcPr>
                </a:tc>
                <a:tc>
                  <a:txBody>
                    <a:bodyPr/>
                    <a:lstStyle/>
                    <a:p>
                      <a:pPr marL="447675" marR="0" lvl="0" indent="0" algn="l" rtl="0">
                        <a:lnSpc>
                          <a:spcPct val="100000"/>
                        </a:lnSpc>
                        <a:spcBef>
                          <a:spcPts val="0"/>
                        </a:spcBef>
                        <a:spcAft>
                          <a:spcPts val="0"/>
                        </a:spcAft>
                        <a:buNone/>
                      </a:pPr>
                      <a:r>
                        <a:rPr lang="en-US" sz="1900" b="1" u="none" strike="noStrike" cap="none">
                          <a:solidFill>
                            <a:srgbClr val="FFFFFF"/>
                          </a:solidFill>
                          <a:latin typeface="Times New Roman"/>
                          <a:ea typeface="Times New Roman"/>
                          <a:cs typeface="Times New Roman"/>
                          <a:sym typeface="Times New Roman"/>
                        </a:rPr>
                        <a:t>Name</a:t>
                      </a:r>
                      <a:endParaRPr sz="1900" u="none" strike="noStrike" cap="none">
                        <a:latin typeface="Times New Roman"/>
                        <a:ea typeface="Times New Roman"/>
                        <a:cs typeface="Times New Roman"/>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27BA3"/>
                    </a:solidFill>
                  </a:tcPr>
                </a:tc>
                <a:tc>
                  <a:txBody>
                    <a:bodyPr/>
                    <a:lstStyle/>
                    <a:p>
                      <a:pPr marL="536575" marR="0" lvl="0" indent="0" algn="l" rtl="0">
                        <a:lnSpc>
                          <a:spcPct val="100000"/>
                        </a:lnSpc>
                        <a:spcBef>
                          <a:spcPts val="0"/>
                        </a:spcBef>
                        <a:spcAft>
                          <a:spcPts val="0"/>
                        </a:spcAft>
                        <a:buNone/>
                      </a:pPr>
                      <a:r>
                        <a:rPr lang="en-US" sz="1900" b="1" u="none" strike="noStrike" cap="none">
                          <a:solidFill>
                            <a:srgbClr val="FFFFFF"/>
                          </a:solidFill>
                          <a:latin typeface="Times New Roman"/>
                          <a:ea typeface="Times New Roman"/>
                          <a:cs typeface="Times New Roman"/>
                          <a:sym typeface="Times New Roman"/>
                        </a:rPr>
                        <a:t>Year</a:t>
                      </a:r>
                      <a:endParaRPr sz="1900" u="none" strike="noStrike" cap="none">
                        <a:latin typeface="Times New Roman"/>
                        <a:ea typeface="Times New Roman"/>
                        <a:cs typeface="Times New Roman"/>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27BA3"/>
                    </a:solidFill>
                  </a:tcPr>
                </a:tc>
                <a:tc>
                  <a:txBody>
                    <a:bodyPr/>
                    <a:lstStyle/>
                    <a:p>
                      <a:pPr marL="207645" marR="0" lvl="0" indent="0" algn="l" rtl="0">
                        <a:lnSpc>
                          <a:spcPct val="100000"/>
                        </a:lnSpc>
                        <a:spcBef>
                          <a:spcPts val="0"/>
                        </a:spcBef>
                        <a:spcAft>
                          <a:spcPts val="0"/>
                        </a:spcAft>
                        <a:buNone/>
                      </a:pPr>
                      <a:r>
                        <a:rPr lang="en-US" sz="1900" b="1" u="none" strike="noStrike" cap="none">
                          <a:solidFill>
                            <a:srgbClr val="FFFFFF"/>
                          </a:solidFill>
                          <a:latin typeface="Times New Roman"/>
                          <a:ea typeface="Times New Roman"/>
                          <a:cs typeface="Times New Roman"/>
                          <a:sym typeface="Times New Roman"/>
                        </a:rPr>
                        <a:t>Advantage</a:t>
                      </a:r>
                      <a:endParaRPr sz="1900" u="none" strike="noStrike" cap="none">
                        <a:latin typeface="Times New Roman"/>
                        <a:ea typeface="Times New Roman"/>
                        <a:cs typeface="Times New Roman"/>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27BA3"/>
                    </a:solidFill>
                  </a:tcPr>
                </a:tc>
                <a:tc>
                  <a:txBody>
                    <a:bodyPr/>
                    <a:lstStyle/>
                    <a:p>
                      <a:pPr marL="173990" marR="0" lvl="0" indent="0" algn="l" rtl="0">
                        <a:lnSpc>
                          <a:spcPct val="100000"/>
                        </a:lnSpc>
                        <a:spcBef>
                          <a:spcPts val="0"/>
                        </a:spcBef>
                        <a:spcAft>
                          <a:spcPts val="0"/>
                        </a:spcAft>
                        <a:buNone/>
                      </a:pPr>
                      <a:r>
                        <a:rPr lang="en-US" sz="1900" b="1" u="none" strike="noStrike" cap="none">
                          <a:solidFill>
                            <a:srgbClr val="FFFFFF"/>
                          </a:solidFill>
                          <a:latin typeface="Times New Roman"/>
                          <a:ea typeface="Times New Roman"/>
                          <a:cs typeface="Times New Roman"/>
                          <a:sym typeface="Times New Roman"/>
                        </a:rPr>
                        <a:t>Disadvantage</a:t>
                      </a:r>
                      <a:endParaRPr sz="1900" u="none" strike="noStrike" cap="none">
                        <a:latin typeface="Times New Roman"/>
                        <a:ea typeface="Times New Roman"/>
                        <a:cs typeface="Times New Roman"/>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27BA3"/>
                    </a:solidFill>
                  </a:tcPr>
                </a:tc>
                <a:extLst>
                  <a:ext uri="{0D108BD9-81ED-4DB2-BD59-A6C34878D82A}">
                    <a16:rowId xmlns:a16="http://schemas.microsoft.com/office/drawing/2014/main" val="10000"/>
                  </a:ext>
                </a:extLst>
              </a:tr>
              <a:tr h="2227444">
                <a:tc>
                  <a:txBody>
                    <a:bodyPr/>
                    <a:lstStyle/>
                    <a:p>
                      <a:pPr marL="0" marR="0" lvl="0" indent="0" algn="ctr"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3.</a:t>
                      </a:r>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4D7E0"/>
                    </a:solidFill>
                  </a:tcPr>
                </a:tc>
                <a:tc>
                  <a:txBody>
                    <a:bodyPr/>
                    <a:lstStyle/>
                    <a:p>
                      <a:pPr marL="132715" marR="126364" lvl="0" indent="0" algn="ctr" rtl="0">
                        <a:lnSpc>
                          <a:spcPct val="100000"/>
                        </a:lnSpc>
                        <a:spcBef>
                          <a:spcPts val="0"/>
                        </a:spcBef>
                        <a:spcAft>
                          <a:spcPts val="0"/>
                        </a:spcAft>
                        <a:buNone/>
                      </a:pPr>
                      <a:r>
                        <a:rPr lang="en-IN"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Chen et al</a:t>
                      </a:r>
                      <a:endParaRPr sz="18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4D7E0"/>
                    </a:solidFill>
                  </a:tcPr>
                </a:tc>
                <a:tc>
                  <a:txBody>
                    <a:bodyPr/>
                    <a:lstStyle/>
                    <a:p>
                      <a:pPr marL="549275" marR="0" lvl="0" indent="0" algn="l" rtl="0">
                        <a:lnSpc>
                          <a:spcPct val="100000"/>
                        </a:lnSpc>
                        <a:spcBef>
                          <a:spcPts val="0"/>
                        </a:spcBef>
                        <a:spcAft>
                          <a:spcPts val="0"/>
                        </a:spcAft>
                        <a:buNone/>
                      </a:pPr>
                      <a:r>
                        <a:rPr lang="en-US" sz="1800" u="none" strike="noStrike" cap="none" dirty="0">
                          <a:latin typeface="Times New Roman"/>
                          <a:ea typeface="Times New Roman"/>
                          <a:cs typeface="Times New Roman"/>
                          <a:sym typeface="Times New Roman"/>
                        </a:rPr>
                        <a:t>2019</a:t>
                      </a:r>
                      <a:endParaRPr dirty="0"/>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4D7E0"/>
                    </a:solidFill>
                  </a:tcPr>
                </a:tc>
                <a:tc>
                  <a:txBody>
                    <a:bodyPr/>
                    <a:lstStyle/>
                    <a:p>
                      <a:pPr marL="0" lvl="0" indent="0" algn="l" rtl="0">
                        <a:spcBef>
                          <a:spcPts val="0"/>
                        </a:spcBef>
                        <a:spcAft>
                          <a:spcPts val="0"/>
                        </a:spcAft>
                        <a:buNone/>
                      </a:pPr>
                      <a:r>
                        <a:rPr lang="en-IN"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Adaptive algorithms for improved cursor accuracy</a:t>
                      </a:r>
                    </a:p>
                    <a:p>
                      <a:pPr marL="0" lvl="0" indent="0" algn="l" rtl="0">
                        <a:spcBef>
                          <a:spcPts val="0"/>
                        </a:spcBef>
                        <a:spcAft>
                          <a:spcPts val="0"/>
                        </a:spcAft>
                        <a:buNone/>
                      </a:pPr>
                      <a:endParaRPr lang="en-IN"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endParaRPr>
                    </a:p>
                    <a:p>
                      <a:pPr marL="0" lvl="0" indent="0" algn="l" rtl="0">
                        <a:spcBef>
                          <a:spcPts val="0"/>
                        </a:spcBef>
                        <a:spcAft>
                          <a:spcPts val="0"/>
                        </a:spcAft>
                        <a:buNone/>
                      </a:pPr>
                      <a:r>
                        <a:rPr lang="en-US"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Enhanced usability through gesture recognition</a:t>
                      </a:r>
                      <a:endParaRPr sz="1800" dirty="0">
                        <a:latin typeface="Times New Roman" panose="02020603050405020304" pitchFamily="18" charset="0"/>
                        <a:ea typeface="Times New Roman"/>
                        <a:cs typeface="Times New Roman" panose="02020603050405020304" pitchFamily="18" charset="0"/>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D4D7E0"/>
                    </a:solidFill>
                  </a:tcPr>
                </a:tc>
                <a:tc>
                  <a:txBody>
                    <a:bodyPr/>
                    <a:lstStyle/>
                    <a:p>
                      <a:pPr marL="0" lvl="0" indent="0" algn="l" rtl="0">
                        <a:spcBef>
                          <a:spcPts val="0"/>
                        </a:spcBef>
                        <a:spcAft>
                          <a:spcPts val="0"/>
                        </a:spcAft>
                        <a:buNone/>
                      </a:pPr>
                      <a:r>
                        <a:rPr lang="en-US"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Limited support for non-standard eye movements</a:t>
                      </a:r>
                    </a:p>
                    <a:p>
                      <a:pPr marL="0" lvl="0" indent="0" algn="l" rtl="0">
                        <a:spcBef>
                          <a:spcPts val="0"/>
                        </a:spcBef>
                        <a:spcAft>
                          <a:spcPts val="0"/>
                        </a:spcAft>
                        <a:buNone/>
                      </a:pPr>
                      <a:endParaRPr lang="en-US"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endParaRPr>
                    </a:p>
                    <a:p>
                      <a:pPr marL="0" lvl="0" indent="0" algn="l" rtl="0">
                        <a:spcBef>
                          <a:spcPts val="0"/>
                        </a:spcBef>
                        <a:spcAft>
                          <a:spcPts val="0"/>
                        </a:spcAft>
                        <a:buNone/>
                      </a:pPr>
                      <a:r>
                        <a:rPr lang="en-US"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Potential for false positives in gesture input</a:t>
                      </a:r>
                      <a:endParaRPr sz="1800" dirty="0">
                        <a:latin typeface="Times New Roman" panose="02020603050405020304" pitchFamily="18" charset="0"/>
                        <a:ea typeface="Times New Roman"/>
                        <a:cs typeface="Times New Roman" panose="02020603050405020304" pitchFamily="18" charset="0"/>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rgbClr val="D4D7E0"/>
                    </a:solidFill>
                  </a:tcPr>
                </a:tc>
                <a:extLst>
                  <a:ext uri="{0D108BD9-81ED-4DB2-BD59-A6C34878D82A}">
                    <a16:rowId xmlns:a16="http://schemas.microsoft.com/office/drawing/2014/main" val="10001"/>
                  </a:ext>
                </a:extLst>
              </a:tr>
              <a:tr h="2528176">
                <a:tc>
                  <a:txBody>
                    <a:bodyPr/>
                    <a:lstStyle/>
                    <a:p>
                      <a:pPr marL="0" marR="0" lvl="0" indent="0" algn="ctr" rtl="0">
                        <a:lnSpc>
                          <a:spcPct val="100000"/>
                        </a:lnSpc>
                        <a:spcBef>
                          <a:spcPts val="0"/>
                        </a:spcBef>
                        <a:spcAft>
                          <a:spcPts val="0"/>
                        </a:spcAft>
                        <a:buNone/>
                      </a:pPr>
                      <a:r>
                        <a:rPr lang="en-US" sz="1800" u="none" strike="noStrike" cap="none">
                          <a:latin typeface="Times New Roman"/>
                          <a:ea typeface="Times New Roman"/>
                          <a:cs typeface="Times New Roman"/>
                          <a:sym typeface="Times New Roman"/>
                        </a:rPr>
                        <a:t>4.</a:t>
                      </a:r>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BECF0"/>
                    </a:solidFill>
                  </a:tcPr>
                </a:tc>
                <a:tc>
                  <a:txBody>
                    <a:bodyPr/>
                    <a:lstStyle/>
                    <a:p>
                      <a:pPr marL="78740" marR="75565" lvl="0" indent="3810" algn="ctr" rtl="0">
                        <a:lnSpc>
                          <a:spcPct val="100000"/>
                        </a:lnSpc>
                        <a:spcBef>
                          <a:spcPts val="0"/>
                        </a:spcBef>
                        <a:spcAft>
                          <a:spcPts val="0"/>
                        </a:spcAft>
                        <a:buNone/>
                      </a:pPr>
                      <a:r>
                        <a:rPr lang="en-IN"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Rahman et al.</a:t>
                      </a:r>
                      <a:endParaRPr sz="18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0" marR="0" marT="285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BECF0"/>
                    </a:solidFill>
                  </a:tcPr>
                </a:tc>
                <a:tc>
                  <a:txBody>
                    <a:bodyPr/>
                    <a:lstStyle/>
                    <a:p>
                      <a:pPr marL="549275" marR="0" lvl="0" indent="0" algn="l" rtl="0">
                        <a:lnSpc>
                          <a:spcPct val="100000"/>
                        </a:lnSpc>
                        <a:spcBef>
                          <a:spcPts val="0"/>
                        </a:spcBef>
                        <a:spcAft>
                          <a:spcPts val="0"/>
                        </a:spcAft>
                        <a:buNone/>
                      </a:pPr>
                      <a:r>
                        <a:rPr lang="en-US" sz="1800" u="none" strike="noStrike" cap="none" dirty="0">
                          <a:latin typeface="Times New Roman"/>
                          <a:ea typeface="Times New Roman"/>
                          <a:cs typeface="Times New Roman"/>
                          <a:sym typeface="Times New Roman"/>
                        </a:rPr>
                        <a:t>2022</a:t>
                      </a:r>
                      <a:endParaRPr sz="1800" u="none" strike="noStrike" cap="none" dirty="0">
                        <a:latin typeface="Times New Roman"/>
                        <a:ea typeface="Times New Roman"/>
                        <a:cs typeface="Times New Roman"/>
                        <a:sym typeface="Times New Roman"/>
                      </a:endParaRPr>
                    </a:p>
                  </a:txBody>
                  <a:tcPr marL="0" marR="0" marT="28575" marB="0">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BECF0"/>
                    </a:solidFill>
                  </a:tcPr>
                </a:tc>
                <a:tc>
                  <a:txBody>
                    <a:bodyPr/>
                    <a:lstStyle/>
                    <a:p>
                      <a:pPr fontAlgn="base"/>
                      <a:r>
                        <a:rPr lang="en-US" sz="1800" dirty="0">
                          <a:effectLst/>
                          <a:latin typeface="Times New Roman" panose="02020603050405020304" pitchFamily="18" charset="0"/>
                          <a:cs typeface="Times New Roman" panose="02020603050405020304" pitchFamily="18" charset="0"/>
                        </a:rPr>
                        <a:t>Implementation of neural networks for gaze tracking</a:t>
                      </a:r>
                    </a:p>
                    <a:p>
                      <a:pPr fontAlgn="base"/>
                      <a:endParaRPr lang="en-US" sz="1800" dirty="0">
                        <a:effectLst/>
                        <a:latin typeface="Times New Roman" panose="02020603050405020304" pitchFamily="18" charset="0"/>
                        <a:cs typeface="Times New Roman" panose="02020603050405020304" pitchFamily="18" charset="0"/>
                      </a:endParaRPr>
                    </a:p>
                    <a:p>
                      <a:pPr fontAlgn="base"/>
                      <a:r>
                        <a:rPr lang="en-US"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Robust performance across diverse eye movements</a:t>
                      </a:r>
                      <a:endParaRPr lang="en-US" sz="1800" dirty="0">
                        <a:effectLst/>
                        <a:latin typeface="Times New Roman" panose="02020603050405020304" pitchFamily="18" charset="0"/>
                        <a:cs typeface="Times New Roman" panose="02020603050405020304" pitchFamily="18" charset="0"/>
                      </a:endParaRPr>
                    </a:p>
                    <a:p>
                      <a:pPr fontAlgn="base"/>
                      <a:endParaRPr lang="en-US" sz="1800" dirty="0">
                        <a:effectLst/>
                        <a:latin typeface="Times New Roman" panose="02020603050405020304" pitchFamily="18" charset="0"/>
                        <a:cs typeface="Times New Roman" panose="02020603050405020304" pitchFamily="18" charset="0"/>
                      </a:endParaRPr>
                    </a:p>
                  </a:txBody>
                  <a:tcPr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BECF0"/>
                    </a:solidFill>
                  </a:tcPr>
                </a:tc>
                <a:tc>
                  <a:txBody>
                    <a:bodyPr/>
                    <a:lstStyle/>
                    <a:p>
                      <a:pPr marL="0" indent="0" fontAlgn="base">
                        <a:buFontTx/>
                        <a:buNone/>
                      </a:pPr>
                      <a:r>
                        <a:rPr lang="en-US" sz="1800" dirty="0">
                          <a:effectLst/>
                          <a:latin typeface="Times New Roman" panose="02020603050405020304" pitchFamily="18" charset="0"/>
                          <a:cs typeface="Times New Roman" panose="02020603050405020304" pitchFamily="18" charset="0"/>
                        </a:rPr>
                        <a:t>Dependency on large datasets for training</a:t>
                      </a:r>
                    </a:p>
                    <a:p>
                      <a:pPr marL="0" indent="0" fontAlgn="base">
                        <a:buFontTx/>
                        <a:buNone/>
                      </a:pPr>
                      <a:endParaRPr lang="en-US" sz="1800" dirty="0">
                        <a:effectLst/>
                        <a:latin typeface="Times New Roman" panose="02020603050405020304" pitchFamily="18" charset="0"/>
                        <a:cs typeface="Times New Roman" panose="02020603050405020304" pitchFamily="18" charset="0"/>
                      </a:endParaRPr>
                    </a:p>
                    <a:p>
                      <a:pPr marL="0" indent="0" fontAlgn="base">
                        <a:buFontTx/>
                        <a:buNone/>
                      </a:pPr>
                      <a:r>
                        <a:rPr lang="en-US" sz="1800" b="0" i="0" u="none" strike="noStrike" cap="none" dirty="0">
                          <a:solidFill>
                            <a:schemeClr val="dk1"/>
                          </a:solidFill>
                          <a:effectLst/>
                          <a:latin typeface="Times New Roman" panose="02020603050405020304" pitchFamily="18" charset="0"/>
                          <a:ea typeface="Calibri"/>
                          <a:cs typeface="Times New Roman" panose="02020603050405020304" pitchFamily="18" charset="0"/>
                          <a:sym typeface="Arial"/>
                        </a:rPr>
                        <a:t>Robust performance across diverse eye movements</a:t>
                      </a:r>
                      <a:endParaRPr lang="en-US" sz="1800" dirty="0">
                        <a:effectLst/>
                        <a:latin typeface="Times New Roman" panose="02020603050405020304" pitchFamily="18" charset="0"/>
                        <a:cs typeface="Times New Roman" panose="02020603050405020304" pitchFamily="18" charset="0"/>
                      </a:endParaRPr>
                    </a:p>
                    <a:p>
                      <a:pPr marL="285750" indent="-285750" fontAlgn="base">
                        <a:buFontTx/>
                        <a:buChar char="-"/>
                      </a:pPr>
                      <a:endParaRPr lang="en-US" sz="1800" dirty="0">
                        <a:effectLst/>
                        <a:latin typeface="Times New Roman" panose="02020603050405020304" pitchFamily="18" charset="0"/>
                        <a:cs typeface="Times New Roman" panose="02020603050405020304" pitchFamily="18" charset="0"/>
                      </a:endParaRPr>
                    </a:p>
                  </a:txBody>
                  <a:tcPr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BECF0"/>
                    </a:solidFill>
                  </a:tcPr>
                </a:tc>
                <a:extLst>
                  <a:ext uri="{0D108BD9-81ED-4DB2-BD59-A6C34878D82A}">
                    <a16:rowId xmlns:a16="http://schemas.microsoft.com/office/drawing/2014/main" val="10002"/>
                  </a:ext>
                </a:extLst>
              </a:tr>
            </a:tbl>
          </a:graphicData>
        </a:graphic>
      </p:graphicFrame>
      <p:sp>
        <p:nvSpPr>
          <p:cNvPr id="93" name="Google Shape;93;p14"/>
          <p:cNvSpPr txBox="1">
            <a:spLocks noGrp="1"/>
          </p:cNvSpPr>
          <p:nvPr>
            <p:ph type="title"/>
          </p:nvPr>
        </p:nvSpPr>
        <p:spPr>
          <a:xfrm>
            <a:off x="2031365" y="439420"/>
            <a:ext cx="5710555" cy="558800"/>
          </a:xfrm>
          <a:prstGeom prst="rect">
            <a:avLst/>
          </a:prstGeom>
          <a:noFill/>
          <a:ln>
            <a:noFill/>
          </a:ln>
        </p:spPr>
        <p:txBody>
          <a:bodyPr spcFirstLastPara="1" wrap="square" lIns="0" tIns="12700" rIns="0" bIns="0" anchor="t" anchorCtr="0">
            <a:spAutoFit/>
          </a:bodyPr>
          <a:lstStyle/>
          <a:p>
            <a:pPr marL="244475" lvl="0" indent="0" algn="l" rtl="0">
              <a:lnSpc>
                <a:spcPct val="100000"/>
              </a:lnSpc>
              <a:spcBef>
                <a:spcPts val="0"/>
              </a:spcBef>
              <a:spcAft>
                <a:spcPts val="0"/>
              </a:spcAft>
              <a:buNone/>
            </a:pPr>
            <a:r>
              <a:rPr lang="en-US" dirty="0"/>
              <a:t>LITERATURE SURVEY</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B91B5-8205-0BD4-EE2A-655887E11903}"/>
              </a:ext>
            </a:extLst>
          </p:cNvPr>
          <p:cNvSpPr>
            <a:spLocks noGrp="1"/>
          </p:cNvSpPr>
          <p:nvPr>
            <p:ph type="title"/>
          </p:nvPr>
        </p:nvSpPr>
        <p:spPr/>
        <p:txBody>
          <a:bodyPr/>
          <a:lstStyle/>
          <a:p>
            <a:r>
              <a:rPr lang="en-IN" dirty="0"/>
              <a:t>EXISTING MODEL</a:t>
            </a:r>
          </a:p>
        </p:txBody>
      </p:sp>
      <p:sp>
        <p:nvSpPr>
          <p:cNvPr id="4" name="Text Placeholder 3">
            <a:extLst>
              <a:ext uri="{FF2B5EF4-FFF2-40B4-BE49-F238E27FC236}">
                <a16:creationId xmlns:a16="http://schemas.microsoft.com/office/drawing/2014/main" id="{C18C0BF3-E461-0F0D-B194-4809D48C8A94}"/>
              </a:ext>
            </a:extLst>
          </p:cNvPr>
          <p:cNvSpPr>
            <a:spLocks noGrp="1"/>
          </p:cNvSpPr>
          <p:nvPr>
            <p:ph type="body" idx="2"/>
          </p:nvPr>
        </p:nvSpPr>
        <p:spPr>
          <a:xfrm>
            <a:off x="457199" y="3529205"/>
            <a:ext cx="8350897" cy="2769989"/>
          </a:xfrm>
        </p:spPr>
        <p:txBody>
          <a:bodyPr/>
          <a:lstStyle/>
          <a:p>
            <a:pPr marL="514350" indent="-28575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Hardware Components: </a:t>
            </a:r>
            <a:r>
              <a:rPr lang="en-US" dirty="0">
                <a:latin typeface="Times New Roman" panose="02020603050405020304" pitchFamily="18" charset="0"/>
                <a:cs typeface="Times New Roman" panose="02020603050405020304" pitchFamily="18" charset="0"/>
              </a:rPr>
              <a:t>utilizes specialized eye-tracking technology, such as infrared cameras or sensors, to track the movement of the user's eyes.</a:t>
            </a:r>
          </a:p>
          <a:p>
            <a:pPr marL="5143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Software Algorithms: The eye-tracking data captured by the hardware components is processed by software algorithms. These algorithms analyze the eye movements to determine the direction and speed of the mouse cursor movement on the screen.</a:t>
            </a:r>
          </a:p>
          <a:p>
            <a:pPr marL="5143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Cursor Control: Users can control the mouse cursor by moving their eyes in specific directions or focusing on particular areas of the screen. The eye-tracking system translates these eye movements into corresponding cursor movements, allowing users to interact with digital interfaces without traditional input devices like a mouse or touchpad.</a:t>
            </a:r>
            <a:endParaRPr lang="en-IN" dirty="0">
              <a:latin typeface="Times New Roman" panose="02020603050405020304" pitchFamily="18" charset="0"/>
              <a:cs typeface="Times New Roman" panose="02020603050405020304" pitchFamily="18" charset="0"/>
            </a:endParaRPr>
          </a:p>
        </p:txBody>
      </p:sp>
      <p:sp>
        <p:nvSpPr>
          <p:cNvPr id="6" name="Text Placeholder 5">
            <a:extLst>
              <a:ext uri="{FF2B5EF4-FFF2-40B4-BE49-F238E27FC236}">
                <a16:creationId xmlns:a16="http://schemas.microsoft.com/office/drawing/2014/main" id="{98907061-A0DB-D3BB-E97A-831B3544869E}"/>
              </a:ext>
            </a:extLst>
          </p:cNvPr>
          <p:cNvSpPr>
            <a:spLocks noGrp="1"/>
          </p:cNvSpPr>
          <p:nvPr>
            <p:ph type="body" idx="1"/>
          </p:nvPr>
        </p:nvSpPr>
        <p:spPr>
          <a:xfrm>
            <a:off x="457199" y="1577340"/>
            <a:ext cx="8490858" cy="1938992"/>
          </a:xfrm>
        </p:spPr>
        <p:txBody>
          <a:bodyPr/>
          <a:lstStyle/>
          <a:p>
            <a:pPr marL="5143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existing model for a visual mouse using eye tracking typically involves a combination of hardware and software components. This model tracks the movement of the user's eyes using specialized eye-tracking technology, such as infrared cameras or sensors. The eye-tracking data is then processed by software algorithms to determine the direction and speed of the mouse cursor movement on the screen. Users can control the mouse cursor by moving their eyes in specific directions or focusing on particular areas of the screen.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457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61272-3B93-BC9E-E219-E011EEC7A58A}"/>
              </a:ext>
            </a:extLst>
          </p:cNvPr>
          <p:cNvSpPr>
            <a:spLocks noGrp="1"/>
          </p:cNvSpPr>
          <p:nvPr>
            <p:ph type="title"/>
          </p:nvPr>
        </p:nvSpPr>
        <p:spPr/>
        <p:txBody>
          <a:bodyPr/>
          <a:lstStyle/>
          <a:p>
            <a:r>
              <a:rPr lang="en-IN" dirty="0"/>
              <a:t>PROPOSED MODEL</a:t>
            </a:r>
          </a:p>
        </p:txBody>
      </p:sp>
      <p:sp>
        <p:nvSpPr>
          <p:cNvPr id="3" name="Text Placeholder 2">
            <a:extLst>
              <a:ext uri="{FF2B5EF4-FFF2-40B4-BE49-F238E27FC236}">
                <a16:creationId xmlns:a16="http://schemas.microsoft.com/office/drawing/2014/main" id="{CB1CD701-AE85-3C24-1D20-407102468466}"/>
              </a:ext>
            </a:extLst>
          </p:cNvPr>
          <p:cNvSpPr>
            <a:spLocks noGrp="1"/>
          </p:cNvSpPr>
          <p:nvPr>
            <p:ph type="body" idx="1"/>
          </p:nvPr>
        </p:nvSpPr>
        <p:spPr>
          <a:xfrm>
            <a:off x="317240" y="1586671"/>
            <a:ext cx="8509518" cy="1661993"/>
          </a:xfrm>
        </p:spPr>
        <p:txBody>
          <a:bodyPr/>
          <a:lstStyle/>
          <a:p>
            <a:pPr marL="514350" indent="-28575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new model for a visual mouse using eye tracking could incorporate advancements in eye-tracking technology and machine learning algorithms. Additionally, advanced machine learning algorithms could be implemented to improve the accuracy of cursor movement prediction based on eye movements, leading to smoother and more natural interaction with the computer interface.</a:t>
            </a:r>
          </a:p>
          <a:p>
            <a:pPr marL="514350" indent="-285750" algn="just">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3F3E3CDD-876A-1571-4722-C7727925EA01}"/>
              </a:ext>
            </a:extLst>
          </p:cNvPr>
          <p:cNvSpPr>
            <a:spLocks noGrp="1"/>
          </p:cNvSpPr>
          <p:nvPr>
            <p:ph type="body" idx="2"/>
          </p:nvPr>
        </p:nvSpPr>
        <p:spPr>
          <a:xfrm>
            <a:off x="317241" y="2968746"/>
            <a:ext cx="8509517" cy="3600986"/>
          </a:xfrm>
        </p:spPr>
        <p:txBody>
          <a:bodyPr/>
          <a:lstStyle/>
          <a:p>
            <a:pPr marL="514350" indent="-28575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Enhanced Eye-Tracking Sensors: Research and integrate advanced eye-tracking sensors capable of capturing eye movements with higher accuracy and precision. Explore technologies such as foveated rendering, which focuses computational resources on the area of the screen where the user is looking, improving performance and reducing latency.</a:t>
            </a:r>
          </a:p>
          <a:p>
            <a:pPr marL="514350" indent="-28575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Machine Learning Algorithms: Develop and implement machine learning algorithms to analyze eye movement patterns and predict user intentions more accurately. Train these algorithms on large datasets of eye-tracking data to improve their ability to interpret subtle eye movements and translate them into precise cursor movements.</a:t>
            </a:r>
          </a:p>
          <a:p>
            <a:pPr marL="514350" indent="-28575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Real-Time Feedback: Integrate real-time feedback mechanisms into the visual mouse system to provide users with immediate insights into their eye movement patterns and interaction performance. </a:t>
            </a:r>
          </a:p>
          <a:p>
            <a:pPr marL="514350" indent="-285750" algn="just">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450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1508125" y="494982"/>
            <a:ext cx="5987415" cy="558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ARCHITECTURE DIAGRAM</a:t>
            </a:r>
            <a:endParaRPr/>
          </a:p>
        </p:txBody>
      </p:sp>
      <p:sp>
        <p:nvSpPr>
          <p:cNvPr id="117" name="Google Shape;117;p18"/>
          <p:cNvSpPr txBox="1"/>
          <p:nvPr/>
        </p:nvSpPr>
        <p:spPr>
          <a:xfrm>
            <a:off x="578109" y="1724977"/>
            <a:ext cx="47625" cy="558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200">
                <a:solidFill>
                  <a:srgbClr val="727BA3"/>
                </a:solidFill>
                <a:latin typeface="Arial"/>
                <a:ea typeface="Arial"/>
                <a:cs typeface="Arial"/>
                <a:sym typeface="Arial"/>
              </a:rPr>
              <a:t>❖</a:t>
            </a:r>
            <a:endParaRPr sz="200">
              <a:solidFill>
                <a:schemeClr val="dk1"/>
              </a:solidFill>
              <a:latin typeface="Arial"/>
              <a:ea typeface="Arial"/>
              <a:cs typeface="Arial"/>
              <a:sym typeface="Arial"/>
            </a:endParaRPr>
          </a:p>
        </p:txBody>
      </p:sp>
      <p:pic>
        <p:nvPicPr>
          <p:cNvPr id="4" name="Picture 3">
            <a:extLst>
              <a:ext uri="{FF2B5EF4-FFF2-40B4-BE49-F238E27FC236}">
                <a16:creationId xmlns:a16="http://schemas.microsoft.com/office/drawing/2014/main" id="{F12D9365-AE60-A9ED-107F-4A00A60D596D}"/>
              </a:ext>
            </a:extLst>
          </p:cNvPr>
          <p:cNvPicPr>
            <a:picLocks noChangeAspect="1"/>
          </p:cNvPicPr>
          <p:nvPr/>
        </p:nvPicPr>
        <p:blipFill>
          <a:blip r:embed="rId3"/>
          <a:stretch>
            <a:fillRect/>
          </a:stretch>
        </p:blipFill>
        <p:spPr>
          <a:xfrm>
            <a:off x="978743" y="1579972"/>
            <a:ext cx="6836520" cy="43927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p:nvPr/>
        </p:nvSpPr>
        <p:spPr>
          <a:xfrm>
            <a:off x="587375" y="1747938"/>
            <a:ext cx="7959000" cy="597599"/>
          </a:xfrm>
          <a:prstGeom prst="rect">
            <a:avLst/>
          </a:prstGeom>
          <a:noFill/>
          <a:ln>
            <a:noFill/>
          </a:ln>
        </p:spPr>
        <p:txBody>
          <a:bodyPr spcFirstLastPara="1" wrap="square" lIns="0" tIns="12700" rIns="0" bIns="0" anchor="t" anchorCtr="0">
            <a:spAutoFit/>
          </a:bodyPr>
          <a:lstStyle/>
          <a:p>
            <a:pPr marL="0" lvl="0" indent="0" algn="just" rtl="0">
              <a:spcBef>
                <a:spcPts val="0"/>
              </a:spcBef>
              <a:spcAft>
                <a:spcPts val="0"/>
              </a:spcAft>
              <a:buNone/>
            </a:pPr>
            <a:endParaRPr sz="1900" dirty="0">
              <a:latin typeface="Times New Roman"/>
              <a:ea typeface="Times New Roman"/>
              <a:cs typeface="Times New Roman"/>
              <a:sym typeface="Times New Roman"/>
            </a:endParaRPr>
          </a:p>
          <a:p>
            <a:pPr marL="0" lvl="0" indent="0" algn="just" rtl="0">
              <a:spcBef>
                <a:spcPts val="0"/>
              </a:spcBef>
              <a:spcAft>
                <a:spcPts val="0"/>
              </a:spcAft>
              <a:buNone/>
            </a:pPr>
            <a:endParaRPr sz="1900" dirty="0">
              <a:latin typeface="Times New Roman"/>
              <a:ea typeface="Times New Roman"/>
              <a:cs typeface="Times New Roman"/>
              <a:sym typeface="Times New Roman"/>
            </a:endParaRPr>
          </a:p>
        </p:txBody>
      </p:sp>
      <p:sp>
        <p:nvSpPr>
          <p:cNvPr id="124" name="Google Shape;124;p19"/>
          <p:cNvSpPr txBox="1">
            <a:spLocks noGrp="1"/>
          </p:cNvSpPr>
          <p:nvPr>
            <p:ph type="title"/>
          </p:nvPr>
        </p:nvSpPr>
        <p:spPr>
          <a:xfrm>
            <a:off x="1459333" y="449669"/>
            <a:ext cx="6751605" cy="55143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IN" dirty="0"/>
              <a:t>INSTALLATION OF PACKAGES</a:t>
            </a:r>
            <a:endParaRPr dirty="0"/>
          </a:p>
        </p:txBody>
      </p:sp>
      <p:pic>
        <p:nvPicPr>
          <p:cNvPr id="4" name="Picture 3">
            <a:extLst>
              <a:ext uri="{FF2B5EF4-FFF2-40B4-BE49-F238E27FC236}">
                <a16:creationId xmlns:a16="http://schemas.microsoft.com/office/drawing/2014/main" id="{C4248F5D-75BC-ECC5-BA0C-E256F3098986}"/>
              </a:ext>
            </a:extLst>
          </p:cNvPr>
          <p:cNvPicPr>
            <a:picLocks noChangeAspect="1"/>
          </p:cNvPicPr>
          <p:nvPr/>
        </p:nvPicPr>
        <p:blipFill>
          <a:blip r:embed="rId3"/>
          <a:stretch>
            <a:fillRect/>
          </a:stretch>
        </p:blipFill>
        <p:spPr>
          <a:xfrm>
            <a:off x="0" y="1433858"/>
            <a:ext cx="9144000" cy="42328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30" name="Google Shape;130;p20"/>
          <p:cNvSpPr txBox="1">
            <a:spLocks noGrp="1"/>
          </p:cNvSpPr>
          <p:nvPr>
            <p:ph type="title"/>
          </p:nvPr>
        </p:nvSpPr>
        <p:spPr>
          <a:xfrm>
            <a:off x="0" y="484873"/>
            <a:ext cx="9442580" cy="50526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IN" sz="3100" dirty="0"/>
              <a:t>MODULE 1- ACCESSING CAMERA FROM USER</a:t>
            </a:r>
            <a:endParaRPr sz="3100" dirty="0"/>
          </a:p>
        </p:txBody>
      </p:sp>
      <p:sp>
        <p:nvSpPr>
          <p:cNvPr id="4" name="TextBox 3">
            <a:extLst>
              <a:ext uri="{FF2B5EF4-FFF2-40B4-BE49-F238E27FC236}">
                <a16:creationId xmlns:a16="http://schemas.microsoft.com/office/drawing/2014/main" id="{0E4F1E80-7D26-21C2-A8E3-578EF657285B}"/>
              </a:ext>
            </a:extLst>
          </p:cNvPr>
          <p:cNvSpPr txBox="1"/>
          <p:nvPr/>
        </p:nvSpPr>
        <p:spPr>
          <a:xfrm>
            <a:off x="177281" y="1343608"/>
            <a:ext cx="8789438" cy="3970318"/>
          </a:xfrm>
          <a:prstGeom prst="rect">
            <a:avLst/>
          </a:prstGeom>
          <a:noFill/>
        </p:spPr>
        <p:txBody>
          <a:bodyPr wrap="square" rtlCol="0">
            <a:spAutoFit/>
          </a:bodyPr>
          <a:lstStyle/>
          <a:p>
            <a:pPr marL="285750" indent="-285750">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In order to access the camera we use the extension CV2, OpenCV has a function to read video, which is cv2. </a:t>
            </a:r>
            <a:r>
              <a:rPr lang="en-US" sz="1800" dirty="0" err="1">
                <a:latin typeface="Times New Roman" panose="02020603050405020304" pitchFamily="18" charset="0"/>
                <a:cs typeface="Times New Roman" panose="02020603050405020304" pitchFamily="18" charset="0"/>
              </a:rPr>
              <a:t>VideoCapture</a:t>
            </a:r>
            <a:r>
              <a:rPr lang="en-US" sz="1800" dirty="0">
                <a:latin typeface="Times New Roman" panose="02020603050405020304" pitchFamily="18" charset="0"/>
                <a:cs typeface="Times New Roman" panose="02020603050405020304" pitchFamily="18" charset="0"/>
              </a:rPr>
              <a:t>(). We can access our webcam using pass 0 in the function parameter. If you want to capture CCTV footage then we can pass the RTSP </a:t>
            </a:r>
            <a:r>
              <a:rPr lang="en-US" sz="1800" dirty="0" err="1">
                <a:latin typeface="Times New Roman" panose="02020603050405020304" pitchFamily="18" charset="0"/>
                <a:cs typeface="Times New Roman" panose="02020603050405020304" pitchFamily="18" charset="0"/>
              </a:rPr>
              <a:t>url</a:t>
            </a:r>
            <a:r>
              <a:rPr lang="en-US" sz="1800" dirty="0">
                <a:latin typeface="Times New Roman" panose="02020603050405020304" pitchFamily="18" charset="0"/>
                <a:cs typeface="Times New Roman" panose="02020603050405020304" pitchFamily="18" charset="0"/>
              </a:rPr>
              <a:t> in the function parameter, which is really useful for video analysis</a:t>
            </a:r>
          </a:p>
          <a:p>
            <a:pPr marL="285750" indent="-285750">
              <a:buFont typeface="Wingdings" panose="05000000000000000000" pitchFamily="2" charset="2"/>
              <a:buChar char="v"/>
            </a:pP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Camera Integration: Investigate the feasibility of integrating a camera module into the visual mouse system alongside the eye-tracking sensors. This camera module could capture images or video of the user's surroundings, providing additional context for interpreting eye movements and enhancing the overall user experience.</a:t>
            </a:r>
          </a:p>
          <a:p>
            <a:pPr marL="285750" indent="-285750">
              <a:buFont typeface="Wingdings" panose="05000000000000000000" pitchFamily="2" charset="2"/>
              <a:buChar char="v"/>
            </a:pP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Computer Vision Algorithms: Develop computer vision algorithms to analyze the images or video streams captured by the camera module. These algorithms could be used to detect objects or visual cues in the user's environment that may influence their eye movement patterns or interaction preferences.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txBox="1"/>
          <p:nvPr/>
        </p:nvSpPr>
        <p:spPr>
          <a:xfrm>
            <a:off x="457200" y="1433148"/>
            <a:ext cx="8229600" cy="4594800"/>
          </a:xfrm>
          <a:prstGeom prst="rect">
            <a:avLst/>
          </a:prstGeom>
          <a:noFill/>
          <a:ln>
            <a:noFill/>
          </a:ln>
        </p:spPr>
        <p:txBody>
          <a:bodyPr spcFirstLastPara="1" wrap="square" lIns="0" tIns="12700" rIns="0" bIns="0" anchor="t" anchorCtr="0">
            <a:noAutofit/>
          </a:bodyPr>
          <a:lstStyle/>
          <a:p>
            <a:pPr marL="342900" lvl="0" indent="-342900" algn="just" rtl="0">
              <a:lnSpc>
                <a:spcPct val="100000"/>
              </a:lnSpc>
              <a:spcBef>
                <a:spcPts val="0"/>
              </a:spcBef>
              <a:spcAft>
                <a:spcPts val="0"/>
              </a:spcAft>
              <a:buFont typeface="Wingdings" panose="05000000000000000000" pitchFamily="2" charset="2"/>
              <a:buChar char="v"/>
            </a:pPr>
            <a:r>
              <a:rPr lang="en-US" sz="1800" dirty="0">
                <a:latin typeface="Times New Roman"/>
                <a:ea typeface="Times New Roman"/>
                <a:cs typeface="Times New Roman"/>
                <a:sym typeface="Times New Roman"/>
              </a:rPr>
              <a:t>In order to detect the face the face we were using the extension named </a:t>
            </a:r>
            <a:r>
              <a:rPr lang="en-US" sz="1800" dirty="0" err="1">
                <a:latin typeface="Times New Roman"/>
                <a:ea typeface="Times New Roman"/>
                <a:cs typeface="Times New Roman"/>
                <a:sym typeface="Times New Roman"/>
              </a:rPr>
              <a:t>nediapipe</a:t>
            </a:r>
            <a:r>
              <a:rPr lang="en-US" sz="1800" dirty="0">
                <a:latin typeface="Times New Roman"/>
                <a:ea typeface="Times New Roman"/>
                <a:cs typeface="Times New Roman"/>
                <a:sym typeface="Times New Roman"/>
              </a:rPr>
              <a:t> Delight your customers with innovative machine learning </a:t>
            </a:r>
            <a:r>
              <a:rPr lang="en-US" sz="1800" dirty="0" err="1">
                <a:latin typeface="Times New Roman"/>
                <a:ea typeface="Times New Roman"/>
                <a:cs typeface="Times New Roman"/>
                <a:sym typeface="Times New Roman"/>
              </a:rPr>
              <a:t>features.MediaPipe</a:t>
            </a:r>
            <a:r>
              <a:rPr lang="en-US" sz="1800" dirty="0">
                <a:latin typeface="Times New Roman"/>
                <a:ea typeface="Times New Roman"/>
                <a:cs typeface="Times New Roman"/>
                <a:sym typeface="Times New Roman"/>
              </a:rPr>
              <a:t> contains everything that you need to customize and deploy to mobile (Android, </a:t>
            </a:r>
            <a:r>
              <a:rPr lang="en-US" sz="1800" dirty="0" err="1">
                <a:latin typeface="Times New Roman"/>
                <a:ea typeface="Times New Roman"/>
                <a:cs typeface="Times New Roman"/>
                <a:sym typeface="Times New Roman"/>
              </a:rPr>
              <a:t>iOs</a:t>
            </a:r>
            <a:r>
              <a:rPr lang="en-US" sz="1800" dirty="0">
                <a:latin typeface="Times New Roman"/>
                <a:ea typeface="Times New Roman"/>
                <a:cs typeface="Times New Roman"/>
                <a:sym typeface="Times New Roman"/>
              </a:rPr>
              <a:t>), web, desktop, edge devices, and </a:t>
            </a:r>
            <a:r>
              <a:rPr lang="en-US" sz="1800" dirty="0" err="1">
                <a:latin typeface="Times New Roman"/>
                <a:ea typeface="Times New Roman"/>
                <a:cs typeface="Times New Roman"/>
                <a:sym typeface="Times New Roman"/>
              </a:rPr>
              <a:t>loT</a:t>
            </a:r>
            <a:r>
              <a:rPr lang="en-US" sz="1800" dirty="0">
                <a:latin typeface="Times New Roman"/>
                <a:ea typeface="Times New Roman"/>
                <a:cs typeface="Times New Roman"/>
                <a:sym typeface="Times New Roman"/>
              </a:rPr>
              <a:t>, effortlessly.</a:t>
            </a:r>
          </a:p>
          <a:p>
            <a:pPr marL="342900" lvl="0" indent="-342900" algn="just" rtl="0">
              <a:lnSpc>
                <a:spcPct val="100000"/>
              </a:lnSpc>
              <a:spcBef>
                <a:spcPts val="0"/>
              </a:spcBef>
              <a:spcAft>
                <a:spcPts val="0"/>
              </a:spcAft>
              <a:buFont typeface="Wingdings" panose="05000000000000000000" pitchFamily="2" charset="2"/>
              <a:buChar char="v"/>
            </a:pPr>
            <a:endParaRPr lang="en-US" sz="1800" dirty="0">
              <a:latin typeface="Times New Roman"/>
              <a:ea typeface="Times New Roman"/>
              <a:cs typeface="Times New Roman"/>
              <a:sym typeface="Times New Roman"/>
            </a:endParaRPr>
          </a:p>
          <a:p>
            <a:pPr marL="342900" lvl="0" indent="-342900" algn="just" rtl="0">
              <a:lnSpc>
                <a:spcPct val="100000"/>
              </a:lnSpc>
              <a:spcBef>
                <a:spcPts val="0"/>
              </a:spcBef>
              <a:spcAft>
                <a:spcPts val="0"/>
              </a:spcAft>
              <a:buFont typeface="Wingdings" panose="05000000000000000000" pitchFamily="2" charset="2"/>
              <a:buChar char="v"/>
            </a:pPr>
            <a:r>
              <a:rPr lang="en-US" sz="1800" dirty="0">
                <a:latin typeface="Times New Roman"/>
                <a:ea typeface="Times New Roman"/>
                <a:cs typeface="Times New Roman"/>
                <a:sym typeface="Times New Roman"/>
              </a:rPr>
              <a:t>Facial Feature Extraction: Utilize face detection algorithms to identify and locate the user's face within the camera's field of view. Extract key facial features such as the eyes, nose, and mouth to facilitate more precise eye-tracking and cursor control.</a:t>
            </a:r>
          </a:p>
          <a:p>
            <a:pPr marL="342900" lvl="0" indent="-342900" algn="just" rtl="0">
              <a:lnSpc>
                <a:spcPct val="100000"/>
              </a:lnSpc>
              <a:spcBef>
                <a:spcPts val="0"/>
              </a:spcBef>
              <a:spcAft>
                <a:spcPts val="0"/>
              </a:spcAft>
              <a:buFont typeface="Wingdings" panose="05000000000000000000" pitchFamily="2" charset="2"/>
              <a:buChar char="v"/>
            </a:pPr>
            <a:endParaRPr lang="en-US" sz="1800" dirty="0">
              <a:latin typeface="Times New Roman"/>
              <a:ea typeface="Times New Roman"/>
              <a:cs typeface="Times New Roman"/>
              <a:sym typeface="Times New Roman"/>
            </a:endParaRPr>
          </a:p>
          <a:p>
            <a:pPr marL="342900" lvl="0" indent="-342900" algn="just" rtl="0">
              <a:lnSpc>
                <a:spcPct val="100000"/>
              </a:lnSpc>
              <a:spcBef>
                <a:spcPts val="0"/>
              </a:spcBef>
              <a:spcAft>
                <a:spcPts val="0"/>
              </a:spcAft>
              <a:buFont typeface="Wingdings" panose="05000000000000000000" pitchFamily="2" charset="2"/>
              <a:buChar char="v"/>
            </a:pPr>
            <a:r>
              <a:rPr lang="en-US" sz="1800" dirty="0">
                <a:latin typeface="Times New Roman"/>
                <a:ea typeface="Times New Roman"/>
                <a:cs typeface="Times New Roman"/>
                <a:sym typeface="Times New Roman"/>
              </a:rPr>
              <a:t>Gaze Direction Estimation: Use facial feature tracking to estimate the user's gaze direction based on the position and orientation of their eyes relative to the detected facial landmarks. This information can be combined with eye-tracking data to improve the accuracy of cursor movement prediction and interaction responsiveness.</a:t>
            </a:r>
            <a:endParaRPr lang="en-IN" sz="1800" dirty="0">
              <a:latin typeface="Times New Roman"/>
              <a:ea typeface="Times New Roman"/>
              <a:cs typeface="Times New Roman"/>
              <a:sym typeface="Times New Roman"/>
            </a:endParaRPr>
          </a:p>
        </p:txBody>
      </p:sp>
      <p:sp>
        <p:nvSpPr>
          <p:cNvPr id="3" name="Title 2">
            <a:extLst>
              <a:ext uri="{FF2B5EF4-FFF2-40B4-BE49-F238E27FC236}">
                <a16:creationId xmlns:a16="http://schemas.microsoft.com/office/drawing/2014/main" id="{B5BAD53D-0E0B-1CCD-FC06-AAD89B262CF1}"/>
              </a:ext>
            </a:extLst>
          </p:cNvPr>
          <p:cNvSpPr>
            <a:spLocks noGrp="1"/>
          </p:cNvSpPr>
          <p:nvPr>
            <p:ph type="title"/>
          </p:nvPr>
        </p:nvSpPr>
        <p:spPr>
          <a:xfrm>
            <a:off x="1508851" y="402097"/>
            <a:ext cx="6496815" cy="553998"/>
          </a:xfrm>
        </p:spPr>
        <p:txBody>
          <a:bodyPr/>
          <a:lstStyle/>
          <a:p>
            <a:r>
              <a:rPr lang="en-IN" sz="3600" dirty="0"/>
              <a:t>MODULE </a:t>
            </a:r>
            <a:r>
              <a:rPr lang="en-IN" sz="3100" dirty="0"/>
              <a:t>2 – FACE DETECTION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txBox="1"/>
          <p:nvPr/>
        </p:nvSpPr>
        <p:spPr>
          <a:xfrm>
            <a:off x="457200" y="1433148"/>
            <a:ext cx="8229600" cy="4594800"/>
          </a:xfrm>
          <a:prstGeom prst="rect">
            <a:avLst/>
          </a:prstGeom>
          <a:noFill/>
          <a:ln>
            <a:noFill/>
          </a:ln>
        </p:spPr>
        <p:txBody>
          <a:bodyPr spcFirstLastPara="1" wrap="square" lIns="0" tIns="12700" rIns="0" bIns="0" anchor="t" anchorCtr="0">
            <a:noAutofit/>
          </a:bodyPr>
          <a:lstStyle/>
          <a:p>
            <a:pPr marL="342900" lvl="0" indent="-342900" algn="just" rtl="0">
              <a:lnSpc>
                <a:spcPct val="100000"/>
              </a:lnSpc>
              <a:spcBef>
                <a:spcPts val="0"/>
              </a:spcBef>
              <a:spcAft>
                <a:spcPts val="0"/>
              </a:spcAft>
              <a:buFont typeface="Wingdings" panose="05000000000000000000" pitchFamily="2" charset="2"/>
              <a:buChar char="v"/>
            </a:pPr>
            <a:r>
              <a:rPr lang="en-US" sz="1800" dirty="0">
                <a:latin typeface="Times New Roman"/>
                <a:ea typeface="Times New Roman"/>
                <a:cs typeface="Times New Roman"/>
                <a:sym typeface="Times New Roman"/>
              </a:rPr>
              <a:t>The order of color is BGR (blue, green, red). The OpenCV function </a:t>
            </a:r>
            <a:r>
              <a:rPr lang="en-US" sz="1800" dirty="0" err="1">
                <a:latin typeface="Times New Roman"/>
                <a:ea typeface="Times New Roman"/>
                <a:cs typeface="Times New Roman"/>
                <a:sym typeface="Times New Roman"/>
              </a:rPr>
              <a:t>imwritel</a:t>
            </a:r>
            <a:r>
              <a:rPr lang="en-US" sz="1800" dirty="0">
                <a:latin typeface="Times New Roman"/>
                <a:ea typeface="Times New Roman"/>
                <a:cs typeface="Times New Roman"/>
                <a:sym typeface="Times New Roman"/>
              </a:rPr>
              <a:t>) that saves an image assumes that the order of colors is BGR, so it is saved as a correct image. When performing image processing with Pillow, you can convert </a:t>
            </a:r>
            <a:r>
              <a:rPr lang="en-US" sz="1800" dirty="0" err="1">
                <a:latin typeface="Times New Roman"/>
                <a:ea typeface="Times New Roman"/>
                <a:cs typeface="Times New Roman"/>
                <a:sym typeface="Times New Roman"/>
              </a:rPr>
              <a:t>ndarray</a:t>
            </a:r>
            <a:r>
              <a:rPr lang="en-US" sz="1800" dirty="0">
                <a:latin typeface="Times New Roman"/>
                <a:ea typeface="Times New Roman"/>
                <a:cs typeface="Times New Roman"/>
                <a:sym typeface="Times New Roman"/>
              </a:rPr>
              <a:t> to a PIL. Image object with </a:t>
            </a:r>
            <a:r>
              <a:rPr lang="en-US" sz="1800" dirty="0" err="1">
                <a:latin typeface="Times New Roman"/>
                <a:ea typeface="Times New Roman"/>
                <a:cs typeface="Times New Roman"/>
                <a:sym typeface="Times New Roman"/>
              </a:rPr>
              <a:t>Image.In</a:t>
            </a:r>
            <a:r>
              <a:rPr lang="en-US" sz="1800" dirty="0">
                <a:latin typeface="Times New Roman"/>
                <a:ea typeface="Times New Roman"/>
                <a:cs typeface="Times New Roman"/>
                <a:sym typeface="Times New Roman"/>
              </a:rPr>
              <a:t> our face we have 483 land marks!!</a:t>
            </a:r>
          </a:p>
          <a:p>
            <a:pPr marL="342900" lvl="0" indent="-342900" algn="just" rtl="0">
              <a:lnSpc>
                <a:spcPct val="100000"/>
              </a:lnSpc>
              <a:spcBef>
                <a:spcPts val="0"/>
              </a:spcBef>
              <a:spcAft>
                <a:spcPts val="0"/>
              </a:spcAft>
              <a:buFont typeface="Wingdings" panose="05000000000000000000" pitchFamily="2" charset="2"/>
              <a:buChar char="v"/>
            </a:pPr>
            <a:endParaRPr lang="en-US" sz="1800" dirty="0">
              <a:latin typeface="Times New Roman"/>
              <a:ea typeface="Times New Roman"/>
              <a:cs typeface="Times New Roman"/>
              <a:sym typeface="Times New Roman"/>
            </a:endParaRPr>
          </a:p>
          <a:p>
            <a:pPr marL="342900" lvl="0" indent="-342900" algn="just" rtl="0">
              <a:lnSpc>
                <a:spcPct val="100000"/>
              </a:lnSpc>
              <a:spcBef>
                <a:spcPts val="0"/>
              </a:spcBef>
              <a:spcAft>
                <a:spcPts val="0"/>
              </a:spcAft>
              <a:buFont typeface="Wingdings" panose="05000000000000000000" pitchFamily="2" charset="2"/>
              <a:buChar char="v"/>
            </a:pPr>
            <a:r>
              <a:rPr lang="en-US" sz="1800" dirty="0">
                <a:latin typeface="Times New Roman"/>
                <a:ea typeface="Times New Roman"/>
                <a:cs typeface="Times New Roman"/>
                <a:sym typeface="Times New Roman"/>
              </a:rPr>
              <a:t>Landmark Detection: Implement algorithms to detect and localize facial landmarks, such as the eyes, nose, mouth, and other key facial features, in real-time. Utilize computer vision techniques, such as convolutional neural networks (CNNs) or shape-based models, to accurately identify and track these landmarks from captured images or video streams.</a:t>
            </a:r>
          </a:p>
          <a:p>
            <a:pPr marL="342900" lvl="0" indent="-342900" algn="just" rtl="0">
              <a:lnSpc>
                <a:spcPct val="100000"/>
              </a:lnSpc>
              <a:spcBef>
                <a:spcPts val="0"/>
              </a:spcBef>
              <a:spcAft>
                <a:spcPts val="0"/>
              </a:spcAft>
              <a:buFont typeface="Wingdings" panose="05000000000000000000" pitchFamily="2" charset="2"/>
              <a:buChar char="v"/>
            </a:pPr>
            <a:endParaRPr lang="en-US" sz="1800" dirty="0">
              <a:latin typeface="Times New Roman"/>
              <a:ea typeface="Times New Roman"/>
              <a:cs typeface="Times New Roman"/>
              <a:sym typeface="Times New Roman"/>
            </a:endParaRPr>
          </a:p>
          <a:p>
            <a:pPr marL="342900" lvl="0" indent="-342900" algn="just" rtl="0">
              <a:lnSpc>
                <a:spcPct val="100000"/>
              </a:lnSpc>
              <a:spcBef>
                <a:spcPts val="0"/>
              </a:spcBef>
              <a:spcAft>
                <a:spcPts val="0"/>
              </a:spcAft>
              <a:buFont typeface="Wingdings" panose="05000000000000000000" pitchFamily="2" charset="2"/>
              <a:buChar char="v"/>
            </a:pPr>
            <a:r>
              <a:rPr lang="en-US" sz="1800" dirty="0">
                <a:latin typeface="Times New Roman"/>
                <a:ea typeface="Times New Roman"/>
                <a:cs typeface="Times New Roman"/>
                <a:sym typeface="Times New Roman"/>
              </a:rPr>
              <a:t>Landmark Detection: Implement algorithms to detect and localize facial landmarks, such as the eyes, nose, mouth, and other key facial features, in real-time. Utilize computer vision techniques, such as convolutional neural networks (CNNs) or shape-based models, to accurately identify and track these landmarks from captured images or video streams</a:t>
            </a:r>
          </a:p>
          <a:p>
            <a:pPr marL="342900" lvl="0" indent="-342900" algn="just" rtl="0">
              <a:lnSpc>
                <a:spcPct val="100000"/>
              </a:lnSpc>
              <a:spcBef>
                <a:spcPts val="0"/>
              </a:spcBef>
              <a:spcAft>
                <a:spcPts val="0"/>
              </a:spcAft>
              <a:buFont typeface="Wingdings" panose="05000000000000000000" pitchFamily="2" charset="2"/>
              <a:buChar char="v"/>
            </a:pPr>
            <a:endParaRPr lang="en-US" sz="1800" dirty="0">
              <a:latin typeface="Times New Roman"/>
              <a:ea typeface="Times New Roman"/>
              <a:cs typeface="Times New Roman"/>
              <a:sym typeface="Times New Roman"/>
            </a:endParaRPr>
          </a:p>
          <a:p>
            <a:pPr marL="342900" lvl="0" indent="-342900" algn="just" rtl="0">
              <a:lnSpc>
                <a:spcPct val="100000"/>
              </a:lnSpc>
              <a:spcBef>
                <a:spcPts val="0"/>
              </a:spcBef>
              <a:spcAft>
                <a:spcPts val="0"/>
              </a:spcAft>
              <a:buFont typeface="Wingdings" panose="05000000000000000000" pitchFamily="2" charset="2"/>
              <a:buChar char="v"/>
            </a:pPr>
            <a:endParaRPr lang="en-US" sz="1800" dirty="0">
              <a:latin typeface="Times New Roman"/>
              <a:ea typeface="Times New Roman"/>
              <a:cs typeface="Times New Roman"/>
              <a:sym typeface="Times New Roman"/>
            </a:endParaRPr>
          </a:p>
          <a:p>
            <a:pPr lvl="0" algn="just" rtl="0">
              <a:lnSpc>
                <a:spcPct val="100000"/>
              </a:lnSpc>
              <a:spcBef>
                <a:spcPts val="0"/>
              </a:spcBef>
              <a:spcAft>
                <a:spcPts val="0"/>
              </a:spcAft>
            </a:pPr>
            <a:endParaRPr lang="en-US" sz="1800" dirty="0">
              <a:latin typeface="Times New Roman"/>
              <a:ea typeface="Times New Roman"/>
              <a:cs typeface="Times New Roman"/>
              <a:sym typeface="Times New Roman"/>
            </a:endParaRPr>
          </a:p>
          <a:p>
            <a:pPr lvl="0" algn="just" rtl="0">
              <a:lnSpc>
                <a:spcPct val="100000"/>
              </a:lnSpc>
              <a:spcBef>
                <a:spcPts val="0"/>
              </a:spcBef>
              <a:spcAft>
                <a:spcPts val="0"/>
              </a:spcAft>
            </a:pPr>
            <a:endParaRPr lang="en-IN" sz="1800" dirty="0">
              <a:latin typeface="Times New Roman"/>
              <a:ea typeface="Times New Roman"/>
              <a:cs typeface="Times New Roman"/>
              <a:sym typeface="Times New Roman"/>
            </a:endParaRPr>
          </a:p>
        </p:txBody>
      </p:sp>
      <p:sp>
        <p:nvSpPr>
          <p:cNvPr id="3" name="Title 2">
            <a:extLst>
              <a:ext uri="{FF2B5EF4-FFF2-40B4-BE49-F238E27FC236}">
                <a16:creationId xmlns:a16="http://schemas.microsoft.com/office/drawing/2014/main" id="{B5BAD53D-0E0B-1CCD-FC06-AAD89B262CF1}"/>
              </a:ext>
            </a:extLst>
          </p:cNvPr>
          <p:cNvSpPr>
            <a:spLocks noGrp="1"/>
          </p:cNvSpPr>
          <p:nvPr>
            <p:ph type="title"/>
          </p:nvPr>
        </p:nvSpPr>
        <p:spPr>
          <a:xfrm>
            <a:off x="1312908" y="476741"/>
            <a:ext cx="7243263" cy="1031051"/>
          </a:xfrm>
        </p:spPr>
        <p:txBody>
          <a:bodyPr/>
          <a:lstStyle/>
          <a:p>
            <a:r>
              <a:rPr lang="en-IN" sz="3600" dirty="0"/>
              <a:t>MODULE </a:t>
            </a:r>
            <a:r>
              <a:rPr lang="en-IN" sz="3100" dirty="0"/>
              <a:t>3 – FACIAL LANDMARK</a:t>
            </a:r>
          </a:p>
        </p:txBody>
      </p:sp>
    </p:spTree>
    <p:extLst>
      <p:ext uri="{BB962C8B-B14F-4D97-AF65-F5344CB8AC3E}">
        <p14:creationId xmlns:p14="http://schemas.microsoft.com/office/powerpoint/2010/main" val="3419407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E8DBE-A4D9-5FBD-39D5-C20FB6C550BC}"/>
              </a:ext>
            </a:extLst>
          </p:cNvPr>
          <p:cNvSpPr>
            <a:spLocks noGrp="1"/>
          </p:cNvSpPr>
          <p:nvPr>
            <p:ph type="title"/>
          </p:nvPr>
        </p:nvSpPr>
        <p:spPr>
          <a:xfrm>
            <a:off x="457201" y="439420"/>
            <a:ext cx="8229600" cy="984885"/>
          </a:xfrm>
        </p:spPr>
        <p:txBody>
          <a:bodyPr/>
          <a:lstStyle/>
          <a:p>
            <a:r>
              <a:rPr lang="en-IN" sz="3100" dirty="0"/>
              <a:t>MODULE 4 – EXTRACTION OF EYE AREA</a:t>
            </a:r>
          </a:p>
        </p:txBody>
      </p:sp>
      <p:sp>
        <p:nvSpPr>
          <p:cNvPr id="3" name="Text Placeholder 2">
            <a:extLst>
              <a:ext uri="{FF2B5EF4-FFF2-40B4-BE49-F238E27FC236}">
                <a16:creationId xmlns:a16="http://schemas.microsoft.com/office/drawing/2014/main" id="{D29642D9-DC9A-6965-C49C-EF8FAE2C316C}"/>
              </a:ext>
            </a:extLst>
          </p:cNvPr>
          <p:cNvSpPr>
            <a:spLocks noGrp="1"/>
          </p:cNvSpPr>
          <p:nvPr>
            <p:ph type="body" idx="1"/>
          </p:nvPr>
        </p:nvSpPr>
        <p:spPr>
          <a:xfrm>
            <a:off x="130629" y="1577340"/>
            <a:ext cx="8714791" cy="2492990"/>
          </a:xfrm>
        </p:spPr>
        <p:txBody>
          <a:bodyPr/>
          <a:lstStyle/>
          <a:p>
            <a:pPr marL="514350" indent="-28575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Image Processing Techniques: Utilize image processing techniques, such as segmentation and filtering, to isolate and extract the region of interest corresponding to the eyes from the captured images or video frames. Apply algorithms to enhance contrast, reduce noise, and detect the boundaries of the eye area for accurate extraction.</a:t>
            </a:r>
          </a:p>
          <a:p>
            <a:pPr marL="514350" indent="-285750" algn="just">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514350" indent="-28575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Eye Movement Tracking: Track the movement of the eyes over time by continuously updating the position and characteristics of the extracted eye area. Monitor changes in pupil size, shape, and position to detect saccades, blinks, and other eye movements, providing valuable insights into the user's attention and cognitive state.</a:t>
            </a:r>
            <a:endParaRPr lang="en-IN"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448EAF23-3B20-613F-3AE9-13BAF0F35DE1}"/>
              </a:ext>
            </a:extLst>
          </p:cNvPr>
          <p:cNvSpPr>
            <a:spLocks noGrp="1"/>
          </p:cNvSpPr>
          <p:nvPr>
            <p:ph type="body" idx="2"/>
          </p:nvPr>
        </p:nvSpPr>
        <p:spPr>
          <a:xfrm>
            <a:off x="130629" y="4370472"/>
            <a:ext cx="8714791" cy="830997"/>
          </a:xfrm>
        </p:spPr>
        <p:txBody>
          <a:bodyPr/>
          <a:lstStyle/>
          <a:p>
            <a:pPr marL="514350" indent="-28575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Eye Region </a:t>
            </a:r>
            <a:r>
              <a:rPr lang="en-US" dirty="0" err="1">
                <a:latin typeface="Times New Roman" panose="02020603050405020304" pitchFamily="18" charset="0"/>
                <a:cs typeface="Times New Roman" panose="02020603050405020304" pitchFamily="18" charset="0"/>
              </a:rPr>
              <a:t>Detection:Once</a:t>
            </a:r>
            <a:r>
              <a:rPr lang="en-US" dirty="0">
                <a:latin typeface="Times New Roman" panose="02020603050405020304" pitchFamily="18" charset="0"/>
                <a:cs typeface="Times New Roman" panose="02020603050405020304" pitchFamily="18" charset="0"/>
              </a:rPr>
              <a:t> the face is detected, identify the regions of the eyes. </a:t>
            </a:r>
            <a:r>
              <a:rPr lang="en-US">
                <a:latin typeface="Times New Roman" panose="02020603050405020304" pitchFamily="18" charset="0"/>
                <a:cs typeface="Times New Roman" panose="02020603050405020304" pitchFamily="18" charset="0"/>
              </a:rPr>
              <a:t>This can be done using specific models for eye detection, or by leveraging facial landmarks to locate the eye regions accurately.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3629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3" name="Title 2">
            <a:extLst>
              <a:ext uri="{FF2B5EF4-FFF2-40B4-BE49-F238E27FC236}">
                <a16:creationId xmlns:a16="http://schemas.microsoft.com/office/drawing/2014/main" id="{B5BAD53D-0E0B-1CCD-FC06-AAD89B262CF1}"/>
              </a:ext>
            </a:extLst>
          </p:cNvPr>
          <p:cNvSpPr>
            <a:spLocks noGrp="1"/>
          </p:cNvSpPr>
          <p:nvPr>
            <p:ph type="title"/>
          </p:nvPr>
        </p:nvSpPr>
        <p:spPr>
          <a:xfrm>
            <a:off x="3054422" y="346113"/>
            <a:ext cx="2195401" cy="477054"/>
          </a:xfrm>
        </p:spPr>
        <p:txBody>
          <a:bodyPr/>
          <a:lstStyle/>
          <a:p>
            <a:r>
              <a:rPr lang="en-IN" sz="3100" dirty="0"/>
              <a:t>PROGRAM</a:t>
            </a:r>
          </a:p>
        </p:txBody>
      </p:sp>
      <p:pic>
        <p:nvPicPr>
          <p:cNvPr id="4" name="Picture 3">
            <a:extLst>
              <a:ext uri="{FF2B5EF4-FFF2-40B4-BE49-F238E27FC236}">
                <a16:creationId xmlns:a16="http://schemas.microsoft.com/office/drawing/2014/main" id="{22E4808A-85EB-6656-68A1-2704DC4A4568}"/>
              </a:ext>
            </a:extLst>
          </p:cNvPr>
          <p:cNvPicPr>
            <a:picLocks noChangeAspect="1"/>
          </p:cNvPicPr>
          <p:nvPr/>
        </p:nvPicPr>
        <p:blipFill>
          <a:blip r:embed="rId3"/>
          <a:stretch>
            <a:fillRect/>
          </a:stretch>
        </p:blipFill>
        <p:spPr>
          <a:xfrm>
            <a:off x="457345" y="1324427"/>
            <a:ext cx="4296375" cy="5315692"/>
          </a:xfrm>
          <a:prstGeom prst="rect">
            <a:avLst/>
          </a:prstGeom>
        </p:spPr>
      </p:pic>
      <p:pic>
        <p:nvPicPr>
          <p:cNvPr id="6" name="Picture 5">
            <a:extLst>
              <a:ext uri="{FF2B5EF4-FFF2-40B4-BE49-F238E27FC236}">
                <a16:creationId xmlns:a16="http://schemas.microsoft.com/office/drawing/2014/main" id="{FBEB827D-E0BA-3FD4-CA56-63317039023D}"/>
              </a:ext>
            </a:extLst>
          </p:cNvPr>
          <p:cNvPicPr>
            <a:picLocks noChangeAspect="1"/>
          </p:cNvPicPr>
          <p:nvPr/>
        </p:nvPicPr>
        <p:blipFill>
          <a:blip r:embed="rId4"/>
          <a:stretch>
            <a:fillRect/>
          </a:stretch>
        </p:blipFill>
        <p:spPr>
          <a:xfrm>
            <a:off x="4152122" y="2320302"/>
            <a:ext cx="4534533" cy="1533739"/>
          </a:xfrm>
          <a:prstGeom prst="rect">
            <a:avLst/>
          </a:prstGeom>
        </p:spPr>
      </p:pic>
      <p:pic>
        <p:nvPicPr>
          <p:cNvPr id="8" name="Picture 7">
            <a:extLst>
              <a:ext uri="{FF2B5EF4-FFF2-40B4-BE49-F238E27FC236}">
                <a16:creationId xmlns:a16="http://schemas.microsoft.com/office/drawing/2014/main" id="{393006E4-2476-2E59-C79F-BBC532257BEC}"/>
              </a:ext>
            </a:extLst>
          </p:cNvPr>
          <p:cNvPicPr>
            <a:picLocks noChangeAspect="1"/>
          </p:cNvPicPr>
          <p:nvPr/>
        </p:nvPicPr>
        <p:blipFill>
          <a:blip r:embed="rId5"/>
          <a:stretch>
            <a:fillRect/>
          </a:stretch>
        </p:blipFill>
        <p:spPr>
          <a:xfrm>
            <a:off x="4788750" y="4238737"/>
            <a:ext cx="2845766" cy="2401382"/>
          </a:xfrm>
          <a:prstGeom prst="rect">
            <a:avLst/>
          </a:prstGeom>
        </p:spPr>
      </p:pic>
    </p:spTree>
    <p:extLst>
      <p:ext uri="{BB962C8B-B14F-4D97-AF65-F5344CB8AC3E}">
        <p14:creationId xmlns:p14="http://schemas.microsoft.com/office/powerpoint/2010/main" val="1464540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3" name="Title 2">
            <a:extLst>
              <a:ext uri="{FF2B5EF4-FFF2-40B4-BE49-F238E27FC236}">
                <a16:creationId xmlns:a16="http://schemas.microsoft.com/office/drawing/2014/main" id="{B5BAD53D-0E0B-1CCD-FC06-AAD89B262CF1}"/>
              </a:ext>
            </a:extLst>
          </p:cNvPr>
          <p:cNvSpPr>
            <a:spLocks noGrp="1"/>
          </p:cNvSpPr>
          <p:nvPr>
            <p:ph type="title"/>
          </p:nvPr>
        </p:nvSpPr>
        <p:spPr>
          <a:xfrm>
            <a:off x="3390324" y="514063"/>
            <a:ext cx="1722851" cy="477054"/>
          </a:xfrm>
        </p:spPr>
        <p:txBody>
          <a:bodyPr/>
          <a:lstStyle/>
          <a:p>
            <a:r>
              <a:rPr lang="en-IN" sz="3100" dirty="0"/>
              <a:t>OUTPUT</a:t>
            </a:r>
          </a:p>
        </p:txBody>
      </p:sp>
      <p:pic>
        <p:nvPicPr>
          <p:cNvPr id="5" name="Picture 4">
            <a:extLst>
              <a:ext uri="{FF2B5EF4-FFF2-40B4-BE49-F238E27FC236}">
                <a16:creationId xmlns:a16="http://schemas.microsoft.com/office/drawing/2014/main" id="{61025BEE-164C-BA16-DB7E-72836A0CD512}"/>
              </a:ext>
            </a:extLst>
          </p:cNvPr>
          <p:cNvPicPr>
            <a:picLocks noChangeAspect="1"/>
          </p:cNvPicPr>
          <p:nvPr/>
        </p:nvPicPr>
        <p:blipFill>
          <a:blip r:embed="rId3"/>
          <a:stretch>
            <a:fillRect/>
          </a:stretch>
        </p:blipFill>
        <p:spPr>
          <a:xfrm>
            <a:off x="2017506" y="3936777"/>
            <a:ext cx="4943131" cy="2407160"/>
          </a:xfrm>
          <a:prstGeom prst="rect">
            <a:avLst/>
          </a:prstGeom>
        </p:spPr>
      </p:pic>
      <p:pic>
        <p:nvPicPr>
          <p:cNvPr id="9" name="Picture 8">
            <a:extLst>
              <a:ext uri="{FF2B5EF4-FFF2-40B4-BE49-F238E27FC236}">
                <a16:creationId xmlns:a16="http://schemas.microsoft.com/office/drawing/2014/main" id="{D89822BE-C61D-F479-E52B-8474872D929C}"/>
              </a:ext>
            </a:extLst>
          </p:cNvPr>
          <p:cNvPicPr>
            <a:picLocks noChangeAspect="1"/>
          </p:cNvPicPr>
          <p:nvPr/>
        </p:nvPicPr>
        <p:blipFill>
          <a:blip r:embed="rId4"/>
          <a:stretch>
            <a:fillRect/>
          </a:stretch>
        </p:blipFill>
        <p:spPr>
          <a:xfrm>
            <a:off x="2017506" y="1273580"/>
            <a:ext cx="4943130" cy="2663197"/>
          </a:xfrm>
          <a:prstGeom prst="rect">
            <a:avLst/>
          </a:prstGeom>
        </p:spPr>
      </p:pic>
    </p:spTree>
    <p:extLst>
      <p:ext uri="{BB962C8B-B14F-4D97-AF65-F5344CB8AC3E}">
        <p14:creationId xmlns:p14="http://schemas.microsoft.com/office/powerpoint/2010/main" val="1399702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7E1CC-69D7-D248-8370-E9BEE11043B1}"/>
              </a:ext>
            </a:extLst>
          </p:cNvPr>
          <p:cNvSpPr>
            <a:spLocks noGrp="1"/>
          </p:cNvSpPr>
          <p:nvPr>
            <p:ph type="title"/>
          </p:nvPr>
        </p:nvSpPr>
        <p:spPr>
          <a:xfrm>
            <a:off x="1826091" y="501727"/>
            <a:ext cx="6067606" cy="954107"/>
          </a:xfrm>
        </p:spPr>
        <p:txBody>
          <a:bodyPr/>
          <a:lstStyle/>
          <a:p>
            <a:r>
              <a:rPr lang="en-IN" sz="3100" dirty="0"/>
              <a:t>RESULTS AND DISCUSSION</a:t>
            </a:r>
          </a:p>
        </p:txBody>
      </p:sp>
      <p:sp>
        <p:nvSpPr>
          <p:cNvPr id="3" name="Text Placeholder 2">
            <a:extLst>
              <a:ext uri="{FF2B5EF4-FFF2-40B4-BE49-F238E27FC236}">
                <a16:creationId xmlns:a16="http://schemas.microsoft.com/office/drawing/2014/main" id="{6EDAE2CA-D814-704C-911D-2F0AFF0E3669}"/>
              </a:ext>
            </a:extLst>
          </p:cNvPr>
          <p:cNvSpPr>
            <a:spLocks noGrp="1"/>
          </p:cNvSpPr>
          <p:nvPr>
            <p:ph type="body" idx="1"/>
          </p:nvPr>
        </p:nvSpPr>
        <p:spPr>
          <a:xfrm>
            <a:off x="457200" y="1577340"/>
            <a:ext cx="8229600" cy="1384995"/>
          </a:xfrm>
        </p:spPr>
        <p:txBody>
          <a:bodyPr/>
          <a:lstStyle/>
          <a:p>
            <a:pPr marL="5143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After successfully executing the virtual mouse using python for using the mouse virtually. we can minimize the usage of mouse and it will more helpful to physically challenged.</a:t>
            </a:r>
          </a:p>
          <a:p>
            <a:pPr marL="514350" indent="-28575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514350" indent="-285750">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6B59B751-5FD6-9C71-606D-91EAFB0949C0}"/>
              </a:ext>
            </a:extLst>
          </p:cNvPr>
          <p:cNvSpPr>
            <a:spLocks noGrp="1"/>
          </p:cNvSpPr>
          <p:nvPr>
            <p:ph type="body" idx="2"/>
          </p:nvPr>
        </p:nvSpPr>
        <p:spPr>
          <a:xfrm>
            <a:off x="457200" y="2529843"/>
            <a:ext cx="7968342" cy="1384995"/>
          </a:xfrm>
        </p:spPr>
        <p:txBody>
          <a:bodyPr/>
          <a:lstStyle/>
          <a:p>
            <a:pPr marL="514350" indent="-285750">
              <a:buFont typeface="Wingdings" panose="05000000000000000000" pitchFamily="2" charset="2"/>
              <a:buChar char="v"/>
            </a:pPr>
            <a:r>
              <a:rPr lang="en-US" b="0" i="0" dirty="0">
                <a:solidFill>
                  <a:srgbClr val="0D0D0D"/>
                </a:solidFill>
                <a:effectLst/>
                <a:highlight>
                  <a:srgbClr val="FFFFFF"/>
                </a:highlight>
                <a:latin typeface="Times New Roman" panose="02020603050405020304" pitchFamily="18" charset="0"/>
                <a:cs typeface="Times New Roman" panose="02020603050405020304" pitchFamily="18" charset="0"/>
              </a:rPr>
              <a:t>Furthermore, the virtual mouse has the potential to improve the overall efficiency and comfort of computer interaction for all users, regardless of ability. By enabling intuitive and natural control of the cursor through eye tracking, users can navigate digital interfaces more seamlessly and engage with content more effectively.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5784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7"/>
          <p:cNvSpPr txBox="1">
            <a:spLocks noGrp="1"/>
          </p:cNvSpPr>
          <p:nvPr>
            <p:ph type="title"/>
          </p:nvPr>
        </p:nvSpPr>
        <p:spPr>
          <a:xfrm>
            <a:off x="3013075" y="464820"/>
            <a:ext cx="3037840" cy="558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CONCLUSION</a:t>
            </a:r>
            <a:endParaRPr dirty="0"/>
          </a:p>
        </p:txBody>
      </p:sp>
      <p:sp>
        <p:nvSpPr>
          <p:cNvPr id="2" name="TextBox 1">
            <a:extLst>
              <a:ext uri="{FF2B5EF4-FFF2-40B4-BE49-F238E27FC236}">
                <a16:creationId xmlns:a16="http://schemas.microsoft.com/office/drawing/2014/main" id="{DC8104B8-5419-467D-6D91-C15E38518C2B}"/>
              </a:ext>
            </a:extLst>
          </p:cNvPr>
          <p:cNvSpPr txBox="1"/>
          <p:nvPr/>
        </p:nvSpPr>
        <p:spPr>
          <a:xfrm>
            <a:off x="485192" y="1390261"/>
            <a:ext cx="8192277" cy="2308324"/>
          </a:xfrm>
          <a:prstGeom prst="rect">
            <a:avLst/>
          </a:prstGeom>
          <a:noFill/>
        </p:spPr>
        <p:txBody>
          <a:bodyPr wrap="square" rtlCol="0">
            <a:spAutoFit/>
          </a:bodyPr>
          <a:lstStyle/>
          <a:p>
            <a:pPr marL="285750" indent="-285750">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The basic objective is to develop a virtual mouse and keyboard using the concepts of hand gestures cognition and image processing which will ultimately move the mouse pointer according to the hand gestures, To similarly with the help of the gesture can use keyboard functions which will be defined as per the convenience of the user Reducing the cost of </a:t>
            </a:r>
            <a:r>
              <a:rPr lang="en-US" sz="1800" dirty="0" err="1">
                <a:latin typeface="Times New Roman" panose="02020603050405020304" pitchFamily="18" charset="0"/>
                <a:cs typeface="Times New Roman" panose="02020603050405020304" pitchFamily="18" charset="0"/>
              </a:rPr>
              <a:t>hardware.This</a:t>
            </a:r>
            <a:r>
              <a:rPr lang="en-US" sz="1800" dirty="0">
                <a:latin typeface="Times New Roman" panose="02020603050405020304" pitchFamily="18" charset="0"/>
                <a:cs typeface="Times New Roman" panose="02020603050405020304" pitchFamily="18" charset="0"/>
              </a:rPr>
              <a:t> paper is proposing a system to recognize the eyes hand gesture and replace the mouse and keyboard function. That includes the movement of the mouse cursor, the drag and click with the keyboard features like printing alphabets and other keyboard functions.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76"/>
        <p:cNvGrpSpPr/>
        <p:nvPr/>
      </p:nvGrpSpPr>
      <p:grpSpPr>
        <a:xfrm>
          <a:off x="0" y="0"/>
          <a:ext cx="0" cy="0"/>
          <a:chOff x="0" y="0"/>
          <a:chExt cx="0" cy="0"/>
        </a:xfrm>
      </p:grpSpPr>
      <p:sp>
        <p:nvSpPr>
          <p:cNvPr id="177" name="Google Shape;177;p28"/>
          <p:cNvSpPr txBox="1">
            <a:spLocks noGrp="1"/>
          </p:cNvSpPr>
          <p:nvPr>
            <p:ph type="title"/>
          </p:nvPr>
        </p:nvSpPr>
        <p:spPr>
          <a:xfrm>
            <a:off x="2964800" y="3114750"/>
            <a:ext cx="3789600" cy="628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000" u="none"/>
              <a:t>THANK YOU</a:t>
            </a:r>
            <a:endParaRPr sz="40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287</TotalTime>
  <Words>2032</Words>
  <Application>Microsoft Office PowerPoint</Application>
  <PresentationFormat>On-screen Show (4:3)</PresentationFormat>
  <Paragraphs>125</Paragraphs>
  <Slides>21</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Times New Roman</vt:lpstr>
      <vt:lpstr>Wingdings</vt:lpstr>
      <vt:lpstr>Office Theme</vt:lpstr>
      <vt:lpstr>RAJALAKSHMI INSTITUTE OF TECHNOLOGY  DEPARTMENT OF ARTIFICIAL INTELLIGENCE AND DATA SCIENCE</vt:lpstr>
      <vt:lpstr>ABSTRACT</vt:lpstr>
      <vt:lpstr>PROBLEM STATEMENT</vt:lpstr>
      <vt:lpstr>INTRODUCTION</vt:lpstr>
      <vt:lpstr>OBJECTIVE</vt:lpstr>
      <vt:lpstr>SYSTEM REQUIREMENTS</vt:lpstr>
      <vt:lpstr>LITERATURE SURVEY</vt:lpstr>
      <vt:lpstr>LITERATURE SURVEY</vt:lpstr>
      <vt:lpstr>EXISTING MODEL</vt:lpstr>
      <vt:lpstr>PROPOSED MODEL</vt:lpstr>
      <vt:lpstr>ARCHITECTURE DIAGRAM</vt:lpstr>
      <vt:lpstr>INSTALLATION OF PACKAGES</vt:lpstr>
      <vt:lpstr>MODULE 1- ACCESSING CAMERA FROM USER</vt:lpstr>
      <vt:lpstr>MODULE 2 – FACE DETECTION</vt:lpstr>
      <vt:lpstr>MODULE 3 – FACIAL LANDMARK</vt:lpstr>
      <vt:lpstr>MODULE 4 – EXTRACTION OF EYE AREA</vt:lpstr>
      <vt:lpstr>PROGRAM</vt:lpstr>
      <vt:lpstr>OUTPUT</vt:lpstr>
      <vt:lpstr>RESULTS AND DISCUSSION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RAJALAKSHMI INSTITUTE OF TECHNOLOGY  DEPARTMENT OF ARTIFICIAL INTELLIGENCE AND DATA SCIENCE</dc:title>
  <dc:creator>Frederick Tharun</dc:creator>
  <cp:lastModifiedBy>Arjun S</cp:lastModifiedBy>
  <cp:revision>12</cp:revision>
  <dcterms:modified xsi:type="dcterms:W3CDTF">2024-05-15T19:22:49Z</dcterms:modified>
</cp:coreProperties>
</file>